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11"/>
  </p:notesMasterIdLst>
  <p:sldIdLst>
    <p:sldId id="256" r:id="rId2"/>
    <p:sldId id="258" r:id="rId3"/>
    <p:sldId id="259" r:id="rId4"/>
    <p:sldId id="260" r:id="rId5"/>
    <p:sldId id="261" r:id="rId6"/>
    <p:sldId id="263" r:id="rId7"/>
    <p:sldId id="267"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313"/>
    <a:srgbClr val="007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FAF956-C234-4980-B5D3-CA4B0BDB6932}" v="733" dt="2025-12-02T20:20:19.0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autoAdjust="0"/>
    <p:restoredTop sz="94660"/>
  </p:normalViewPr>
  <p:slideViewPr>
    <p:cSldViewPr snapToGrid="0">
      <p:cViewPr varScale="1">
        <p:scale>
          <a:sx n="92" d="100"/>
          <a:sy n="92" d="100"/>
        </p:scale>
        <p:origin x="1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Mahesh" userId="1b72736296810914" providerId="LiveId" clId="{1F2380D0-CAA0-4BAC-A300-BFFC2A6BBF24}"/>
    <pc:docChg chg="undo custSel addSld delSld modSld sldOrd">
      <pc:chgData name="Arjun Mahesh" userId="1b72736296810914" providerId="LiveId" clId="{1F2380D0-CAA0-4BAC-A300-BFFC2A6BBF24}" dt="2025-12-02T20:20:18.521" v="4589" actId="20577"/>
      <pc:docMkLst>
        <pc:docMk/>
      </pc:docMkLst>
      <pc:sldChg chg="addSp delSp modSp mod delAnim modAnim modNotesTx">
        <pc:chgData name="Arjun Mahesh" userId="1b72736296810914" providerId="LiveId" clId="{1F2380D0-CAA0-4BAC-A300-BFFC2A6BBF24}" dt="2025-12-02T20:17:22.596" v="4588" actId="20577"/>
        <pc:sldMkLst>
          <pc:docMk/>
          <pc:sldMk cId="2806070871" sldId="256"/>
        </pc:sldMkLst>
        <pc:spChg chg="mod">
          <ac:chgData name="Arjun Mahesh" userId="1b72736296810914" providerId="LiveId" clId="{1F2380D0-CAA0-4BAC-A300-BFFC2A6BBF24}" dt="2025-11-21T23:52:21.401" v="213" actId="403"/>
          <ac:spMkLst>
            <pc:docMk/>
            <pc:sldMk cId="2806070871" sldId="256"/>
            <ac:spMk id="2" creationId="{A1EA8A1F-9754-1FB1-BC4B-85E2D5383E99}"/>
          </ac:spMkLst>
        </pc:spChg>
        <pc:spChg chg="mod">
          <ac:chgData name="Arjun Mahesh" userId="1b72736296810914" providerId="LiveId" clId="{1F2380D0-CAA0-4BAC-A300-BFFC2A6BBF24}" dt="2025-12-02T02:56:28.234" v="1008" actId="14100"/>
          <ac:spMkLst>
            <pc:docMk/>
            <pc:sldMk cId="2806070871" sldId="256"/>
            <ac:spMk id="3" creationId="{EA6E87F9-2DEC-DD55-8EB2-716D340566AF}"/>
          </ac:spMkLst>
        </pc:spChg>
        <pc:spChg chg="add mod">
          <ac:chgData name="Arjun Mahesh" userId="1b72736296810914" providerId="LiveId" clId="{1F2380D0-CAA0-4BAC-A300-BFFC2A6BBF24}" dt="2025-11-21T23:52:25.982" v="214" actId="207"/>
          <ac:spMkLst>
            <pc:docMk/>
            <pc:sldMk cId="2806070871" sldId="256"/>
            <ac:spMk id="4" creationId="{D57BD3F0-F90A-E030-2C09-B41E946ABDD0}"/>
          </ac:spMkLst>
        </pc:spChg>
        <pc:picChg chg="add del mod modCrop">
          <ac:chgData name="Arjun Mahesh" userId="1b72736296810914" providerId="LiveId" clId="{1F2380D0-CAA0-4BAC-A300-BFFC2A6BBF24}" dt="2025-12-02T03:42:04.760" v="1072" actId="478"/>
          <ac:picMkLst>
            <pc:docMk/>
            <pc:sldMk cId="2806070871" sldId="256"/>
            <ac:picMk id="6" creationId="{94909E93-6213-889B-B1B0-01A6D0D32E7D}"/>
          </ac:picMkLst>
        </pc:picChg>
        <pc:picChg chg="add del mod">
          <ac:chgData name="Arjun Mahesh" userId="1b72736296810914" providerId="LiveId" clId="{1F2380D0-CAA0-4BAC-A300-BFFC2A6BBF24}" dt="2025-12-02T03:42:51.340" v="1073" actId="478"/>
          <ac:picMkLst>
            <pc:docMk/>
            <pc:sldMk cId="2806070871" sldId="256"/>
            <ac:picMk id="7" creationId="{D1EE8626-095F-4BE2-90EF-8B240EEF0C92}"/>
          </ac:picMkLst>
        </pc:picChg>
        <pc:picChg chg="add mod">
          <ac:chgData name="Arjun Mahesh" userId="1b72736296810914" providerId="LiveId" clId="{1F2380D0-CAA0-4BAC-A300-BFFC2A6BBF24}" dt="2025-12-02T03:42:55.901" v="1077" actId="1076"/>
          <ac:picMkLst>
            <pc:docMk/>
            <pc:sldMk cId="2806070871" sldId="256"/>
            <ac:picMk id="8" creationId="{5CE6C094-9847-1F18-3601-F589EB677EA5}"/>
          </ac:picMkLst>
        </pc:picChg>
      </pc:sldChg>
      <pc:sldChg chg="modSp new del mod">
        <pc:chgData name="Arjun Mahesh" userId="1b72736296810914" providerId="LiveId" clId="{1F2380D0-CAA0-4BAC-A300-BFFC2A6BBF24}" dt="2025-12-01T18:21:05.854" v="356" actId="47"/>
        <pc:sldMkLst>
          <pc:docMk/>
          <pc:sldMk cId="2894757675" sldId="257"/>
        </pc:sldMkLst>
        <pc:spChg chg="mod">
          <ac:chgData name="Arjun Mahesh" userId="1b72736296810914" providerId="LiveId" clId="{1F2380D0-CAA0-4BAC-A300-BFFC2A6BBF24}" dt="2025-12-01T18:09:37.295" v="355" actId="20577"/>
          <ac:spMkLst>
            <pc:docMk/>
            <pc:sldMk cId="2894757675" sldId="257"/>
            <ac:spMk id="2" creationId="{98C7452A-FAA1-3A10-7960-C94DFCB4D410}"/>
          </ac:spMkLst>
        </pc:spChg>
      </pc:sldChg>
      <pc:sldChg chg="addSp delSp modSp add mod modNotesTx">
        <pc:chgData name="Arjun Mahesh" userId="1b72736296810914" providerId="LiveId" clId="{1F2380D0-CAA0-4BAC-A300-BFFC2A6BBF24}" dt="2025-12-02T20:20:18.521" v="4589" actId="20577"/>
        <pc:sldMkLst>
          <pc:docMk/>
          <pc:sldMk cId="285897308" sldId="258"/>
        </pc:sldMkLst>
        <pc:spChg chg="del mod">
          <ac:chgData name="Arjun Mahesh" userId="1b72736296810914" providerId="LiveId" clId="{1F2380D0-CAA0-4BAC-A300-BFFC2A6BBF24}" dt="2025-12-01T18:26:09.578" v="390"/>
          <ac:spMkLst>
            <pc:docMk/>
            <pc:sldMk cId="285897308" sldId="258"/>
            <ac:spMk id="3" creationId="{9C1889BB-B515-1BD0-21FE-1CD8B77D109E}"/>
          </ac:spMkLst>
        </pc:spChg>
        <pc:spChg chg="add mod">
          <ac:chgData name="Arjun Mahesh" userId="1b72736296810914" providerId="LiveId" clId="{1F2380D0-CAA0-4BAC-A300-BFFC2A6BBF24}" dt="2025-12-02T03:01:32.934" v="1065" actId="20577"/>
          <ac:spMkLst>
            <pc:docMk/>
            <pc:sldMk cId="285897308" sldId="258"/>
            <ac:spMk id="4" creationId="{07AE435D-1C77-CFD3-012B-6CCBBA86CB4A}"/>
          </ac:spMkLst>
        </pc:spChg>
        <pc:spChg chg="add mod">
          <ac:chgData name="Arjun Mahesh" userId="1b72736296810914" providerId="LiveId" clId="{1F2380D0-CAA0-4BAC-A300-BFFC2A6BBF24}" dt="2025-11-22T01:02:45.301" v="312" actId="164"/>
          <ac:spMkLst>
            <pc:docMk/>
            <pc:sldMk cId="285897308" sldId="258"/>
            <ac:spMk id="7" creationId="{F64E9CB7-B7B1-1E73-9092-39441B1A09E4}"/>
          </ac:spMkLst>
        </pc:spChg>
        <pc:spChg chg="add mod">
          <ac:chgData name="Arjun Mahesh" userId="1b72736296810914" providerId="LiveId" clId="{1F2380D0-CAA0-4BAC-A300-BFFC2A6BBF24}" dt="2025-11-22T01:03:05.473" v="316" actId="164"/>
          <ac:spMkLst>
            <pc:docMk/>
            <pc:sldMk cId="285897308" sldId="258"/>
            <ac:spMk id="9" creationId="{866BB37B-C27E-31A9-CF3A-DD23169FF367}"/>
          </ac:spMkLst>
        </pc:spChg>
        <pc:spChg chg="add mod">
          <ac:chgData name="Arjun Mahesh" userId="1b72736296810914" providerId="LiveId" clId="{1F2380D0-CAA0-4BAC-A300-BFFC2A6BBF24}" dt="2025-12-02T02:46:52.828" v="984" actId="1076"/>
          <ac:spMkLst>
            <pc:docMk/>
            <pc:sldMk cId="285897308" sldId="258"/>
            <ac:spMk id="12" creationId="{ADFF7089-5853-DFE4-CAFA-1908281D24A1}"/>
          </ac:spMkLst>
        </pc:spChg>
        <pc:grpChg chg="add mod">
          <ac:chgData name="Arjun Mahesh" userId="1b72736296810914" providerId="LiveId" clId="{1F2380D0-CAA0-4BAC-A300-BFFC2A6BBF24}" dt="2025-11-22T01:02:45.301" v="312" actId="164"/>
          <ac:grpSpMkLst>
            <pc:docMk/>
            <pc:sldMk cId="285897308" sldId="258"/>
            <ac:grpSpMk id="8" creationId="{0B6D558A-5D5D-85C4-6181-EA00F0763556}"/>
          </ac:grpSpMkLst>
        </pc:grpChg>
        <pc:grpChg chg="add mod">
          <ac:chgData name="Arjun Mahesh" userId="1b72736296810914" providerId="LiveId" clId="{1F2380D0-CAA0-4BAC-A300-BFFC2A6BBF24}" dt="2025-11-22T01:03:05.473" v="316" actId="164"/>
          <ac:grpSpMkLst>
            <pc:docMk/>
            <pc:sldMk cId="285897308" sldId="258"/>
            <ac:grpSpMk id="10" creationId="{D0DE3461-D8FC-99B2-8656-80EE31B27FB8}"/>
          </ac:grpSpMkLst>
        </pc:grpChg>
        <pc:picChg chg="add mod modCrop">
          <ac:chgData name="Arjun Mahesh" userId="1b72736296810914" providerId="LiveId" clId="{1F2380D0-CAA0-4BAC-A300-BFFC2A6BBF24}" dt="2025-11-22T01:03:05.473" v="316" actId="164"/>
          <ac:picMkLst>
            <pc:docMk/>
            <pc:sldMk cId="285897308" sldId="258"/>
            <ac:picMk id="5" creationId="{F672E481-C994-BB4A-4D7F-1B7805D828E4}"/>
          </ac:picMkLst>
        </pc:picChg>
        <pc:picChg chg="add mod modCrop">
          <ac:chgData name="Arjun Mahesh" userId="1b72736296810914" providerId="LiveId" clId="{1F2380D0-CAA0-4BAC-A300-BFFC2A6BBF24}" dt="2025-11-22T01:02:45.301" v="312" actId="164"/>
          <ac:picMkLst>
            <pc:docMk/>
            <pc:sldMk cId="285897308" sldId="258"/>
            <ac:picMk id="6" creationId="{E13D347D-CA93-F902-0FAA-A716A6229B06}"/>
          </ac:picMkLst>
        </pc:picChg>
      </pc:sldChg>
      <pc:sldChg chg="addSp delSp modSp add mod modNotesTx">
        <pc:chgData name="Arjun Mahesh" userId="1b72736296810914" providerId="LiveId" clId="{1F2380D0-CAA0-4BAC-A300-BFFC2A6BBF24}" dt="2025-12-02T04:46:50.162" v="2212" actId="404"/>
        <pc:sldMkLst>
          <pc:docMk/>
          <pc:sldMk cId="3078307567" sldId="259"/>
        </pc:sldMkLst>
        <pc:spChg chg="mod">
          <ac:chgData name="Arjun Mahesh" userId="1b72736296810914" providerId="LiveId" clId="{1F2380D0-CAA0-4BAC-A300-BFFC2A6BBF24}" dt="2025-12-02T04:18:39.068" v="1184" actId="20577"/>
          <ac:spMkLst>
            <pc:docMk/>
            <pc:sldMk cId="3078307567" sldId="259"/>
            <ac:spMk id="2" creationId="{9A044CCD-6855-A3F2-FC68-A7630770479E}"/>
          </ac:spMkLst>
        </pc:spChg>
        <pc:spChg chg="del mod">
          <ac:chgData name="Arjun Mahesh" userId="1b72736296810914" providerId="LiveId" clId="{1F2380D0-CAA0-4BAC-A300-BFFC2A6BBF24}" dt="2025-12-01T18:30:59.852" v="453" actId="931"/>
          <ac:spMkLst>
            <pc:docMk/>
            <pc:sldMk cId="3078307567" sldId="259"/>
            <ac:spMk id="3" creationId="{74937598-44B0-E916-B665-AA793F44382D}"/>
          </ac:spMkLst>
        </pc:spChg>
        <pc:spChg chg="add">
          <ac:chgData name="Arjun Mahesh" userId="1b72736296810914" providerId="LiveId" clId="{1F2380D0-CAA0-4BAC-A300-BFFC2A6BBF24}" dt="2025-12-01T18:28:03.171" v="448"/>
          <ac:spMkLst>
            <pc:docMk/>
            <pc:sldMk cId="3078307567" sldId="259"/>
            <ac:spMk id="4" creationId="{E4FFDF18-FC37-8906-395F-C7EB1720B92D}"/>
          </ac:spMkLst>
        </pc:spChg>
        <pc:spChg chg="add">
          <ac:chgData name="Arjun Mahesh" userId="1b72736296810914" providerId="LiveId" clId="{1F2380D0-CAA0-4BAC-A300-BFFC2A6BBF24}" dt="2025-12-01T18:28:09.423" v="449"/>
          <ac:spMkLst>
            <pc:docMk/>
            <pc:sldMk cId="3078307567" sldId="259"/>
            <ac:spMk id="5" creationId="{C13145E8-55DE-6C60-D57F-D29A6A283044}"/>
          </ac:spMkLst>
        </pc:spChg>
        <pc:spChg chg="add del">
          <ac:chgData name="Arjun Mahesh" userId="1b72736296810914" providerId="LiveId" clId="{1F2380D0-CAA0-4BAC-A300-BFFC2A6BBF24}" dt="2025-12-01T18:30:02.601" v="451" actId="478"/>
          <ac:spMkLst>
            <pc:docMk/>
            <pc:sldMk cId="3078307567" sldId="259"/>
            <ac:spMk id="6" creationId="{F91A5523-EBDE-EBA3-3F1A-DBB1B7726A62}"/>
          </ac:spMkLst>
        </pc:spChg>
        <pc:spChg chg="add">
          <ac:chgData name="Arjun Mahesh" userId="1b72736296810914" providerId="LiveId" clId="{1F2380D0-CAA0-4BAC-A300-BFFC2A6BBF24}" dt="2025-12-01T18:30:23.874" v="452"/>
          <ac:spMkLst>
            <pc:docMk/>
            <pc:sldMk cId="3078307567" sldId="259"/>
            <ac:spMk id="7" creationId="{D49C3846-62AD-A025-29F3-1AD61B076504}"/>
          </ac:spMkLst>
        </pc:spChg>
        <pc:spChg chg="add mod">
          <ac:chgData name="Arjun Mahesh" userId="1b72736296810914" providerId="LiveId" clId="{1F2380D0-CAA0-4BAC-A300-BFFC2A6BBF24}" dt="2025-12-02T04:46:50.162" v="2212" actId="404"/>
          <ac:spMkLst>
            <pc:docMk/>
            <pc:sldMk cId="3078307567" sldId="259"/>
            <ac:spMk id="10" creationId="{D1155BAB-83DD-F652-242F-56F9403C898B}"/>
          </ac:spMkLst>
        </pc:spChg>
        <pc:spChg chg="add del mod">
          <ac:chgData name="Arjun Mahesh" userId="1b72736296810914" providerId="LiveId" clId="{1F2380D0-CAA0-4BAC-A300-BFFC2A6BBF24}" dt="2025-12-01T18:32:53.955" v="483" actId="478"/>
          <ac:spMkLst>
            <pc:docMk/>
            <pc:sldMk cId="3078307567" sldId="259"/>
            <ac:spMk id="11" creationId="{CD85CF87-82CD-D022-67E6-9EAB81BD55E4}"/>
          </ac:spMkLst>
        </pc:spChg>
        <pc:spChg chg="add">
          <ac:chgData name="Arjun Mahesh" userId="1b72736296810914" providerId="LiveId" clId="{1F2380D0-CAA0-4BAC-A300-BFFC2A6BBF24}" dt="2025-12-01T18:32:55.722" v="484"/>
          <ac:spMkLst>
            <pc:docMk/>
            <pc:sldMk cId="3078307567" sldId="259"/>
            <ac:spMk id="12" creationId="{62315D11-C9E8-0A8B-3501-9BBC780A3FBF}"/>
          </ac:spMkLst>
        </pc:spChg>
        <pc:spChg chg="add">
          <ac:chgData name="Arjun Mahesh" userId="1b72736296810914" providerId="LiveId" clId="{1F2380D0-CAA0-4BAC-A300-BFFC2A6BBF24}" dt="2025-12-01T18:33:01.414" v="485"/>
          <ac:spMkLst>
            <pc:docMk/>
            <pc:sldMk cId="3078307567" sldId="259"/>
            <ac:spMk id="13" creationId="{5FE92FCF-D00A-39FF-DCB1-D4266B7B4AED}"/>
          </ac:spMkLst>
        </pc:spChg>
        <pc:spChg chg="add del mod">
          <ac:chgData name="Arjun Mahesh" userId="1b72736296810914" providerId="LiveId" clId="{1F2380D0-CAA0-4BAC-A300-BFFC2A6BBF24}" dt="2025-12-01T18:33:22.784" v="493" actId="478"/>
          <ac:spMkLst>
            <pc:docMk/>
            <pc:sldMk cId="3078307567" sldId="259"/>
            <ac:spMk id="14" creationId="{F95411D9-B3D0-AC21-B212-C4342E40E810}"/>
          </ac:spMkLst>
        </pc:spChg>
        <pc:spChg chg="add del mod">
          <ac:chgData name="Arjun Mahesh" userId="1b72736296810914" providerId="LiveId" clId="{1F2380D0-CAA0-4BAC-A300-BFFC2A6BBF24}" dt="2025-12-02T04:18:24.139" v="1129" actId="478"/>
          <ac:spMkLst>
            <pc:docMk/>
            <pc:sldMk cId="3078307567" sldId="259"/>
            <ac:spMk id="16" creationId="{497C0792-714B-0D47-0C75-DEC7434344D6}"/>
          </ac:spMkLst>
        </pc:spChg>
        <pc:spChg chg="add del mod">
          <ac:chgData name="Arjun Mahesh" userId="1b72736296810914" providerId="LiveId" clId="{1F2380D0-CAA0-4BAC-A300-BFFC2A6BBF24}" dt="2025-12-02T04:18:59.571" v="1187" actId="478"/>
          <ac:spMkLst>
            <pc:docMk/>
            <pc:sldMk cId="3078307567" sldId="259"/>
            <ac:spMk id="18" creationId="{2980528C-E828-9381-906E-C548D5D44D4F}"/>
          </ac:spMkLst>
        </pc:spChg>
        <pc:spChg chg="add mod">
          <ac:chgData name="Arjun Mahesh" userId="1b72736296810914" providerId="LiveId" clId="{1F2380D0-CAA0-4BAC-A300-BFFC2A6BBF24}" dt="2025-12-02T04:25:04.439" v="1471" actId="1037"/>
          <ac:spMkLst>
            <pc:docMk/>
            <pc:sldMk cId="3078307567" sldId="259"/>
            <ac:spMk id="19" creationId="{BDE038A9-DAE3-9AF5-277F-E65882653F72}"/>
          </ac:spMkLst>
        </pc:spChg>
        <pc:picChg chg="add del mod">
          <ac:chgData name="Arjun Mahesh" userId="1b72736296810914" providerId="LiveId" clId="{1F2380D0-CAA0-4BAC-A300-BFFC2A6BBF24}" dt="2025-12-02T04:25:09.388" v="1472" actId="14100"/>
          <ac:picMkLst>
            <pc:docMk/>
            <pc:sldMk cId="3078307567" sldId="259"/>
            <ac:picMk id="9" creationId="{1F2A786F-ECE0-FF85-3CD4-6050D7BA4DDD}"/>
          </ac:picMkLst>
        </pc:picChg>
      </pc:sldChg>
      <pc:sldChg chg="addSp delSp modSp add mod modNotesTx">
        <pc:chgData name="Arjun Mahesh" userId="1b72736296810914" providerId="LiveId" clId="{1F2380D0-CAA0-4BAC-A300-BFFC2A6BBF24}" dt="2025-12-02T04:42:05.723" v="1980" actId="20577"/>
        <pc:sldMkLst>
          <pc:docMk/>
          <pc:sldMk cId="3288001471" sldId="260"/>
        </pc:sldMkLst>
        <pc:spChg chg="mod">
          <ac:chgData name="Arjun Mahesh" userId="1b72736296810914" providerId="LiveId" clId="{1F2380D0-CAA0-4BAC-A300-BFFC2A6BBF24}" dt="2025-12-02T04:42:05.723" v="1980" actId="20577"/>
          <ac:spMkLst>
            <pc:docMk/>
            <pc:sldMk cId="3288001471" sldId="260"/>
            <ac:spMk id="2" creationId="{39993909-8F1D-5417-53E8-32E5631AE5DC}"/>
          </ac:spMkLst>
        </pc:spChg>
        <pc:spChg chg="del">
          <ac:chgData name="Arjun Mahesh" userId="1b72736296810914" providerId="LiveId" clId="{1F2380D0-CAA0-4BAC-A300-BFFC2A6BBF24}" dt="2025-12-02T04:26:28.855" v="1506" actId="3680"/>
          <ac:spMkLst>
            <pc:docMk/>
            <pc:sldMk cId="3288001471" sldId="260"/>
            <ac:spMk id="3" creationId="{DC749572-0198-DF00-DB6D-C685DE2B23C1}"/>
          </ac:spMkLst>
        </pc:spChg>
        <pc:spChg chg="add mod">
          <ac:chgData name="Arjun Mahesh" userId="1b72736296810914" providerId="LiveId" clId="{1F2380D0-CAA0-4BAC-A300-BFFC2A6BBF24}" dt="2025-12-02T04:37:28.995" v="1880" actId="20577"/>
          <ac:spMkLst>
            <pc:docMk/>
            <pc:sldMk cId="3288001471" sldId="260"/>
            <ac:spMk id="5" creationId="{ECCB6D40-09E8-F4FB-1812-8A4299166A5A}"/>
          </ac:spMkLst>
        </pc:spChg>
        <pc:graphicFrameChg chg="add mod ord modGraphic">
          <ac:chgData name="Arjun Mahesh" userId="1b72736296810914" providerId="LiveId" clId="{1F2380D0-CAA0-4BAC-A300-BFFC2A6BBF24}" dt="2025-12-02T04:35:11.727" v="1650" actId="1036"/>
          <ac:graphicFrameMkLst>
            <pc:docMk/>
            <pc:sldMk cId="3288001471" sldId="260"/>
            <ac:graphicFrameMk id="4" creationId="{07A9B512-2861-72FE-99B7-E09244F764E1}"/>
          </ac:graphicFrameMkLst>
        </pc:graphicFrameChg>
      </pc:sldChg>
      <pc:sldChg chg="addSp delSp modSp add mod">
        <pc:chgData name="Arjun Mahesh" userId="1b72736296810914" providerId="LiveId" clId="{1F2380D0-CAA0-4BAC-A300-BFFC2A6BBF24}" dt="2025-12-02T04:48:09.699" v="2418" actId="20577"/>
        <pc:sldMkLst>
          <pc:docMk/>
          <pc:sldMk cId="4079015974" sldId="261"/>
        </pc:sldMkLst>
        <pc:spChg chg="mod">
          <ac:chgData name="Arjun Mahesh" userId="1b72736296810914" providerId="LiveId" clId="{1F2380D0-CAA0-4BAC-A300-BFFC2A6BBF24}" dt="2025-12-02T04:41:15.700" v="1921" actId="20577"/>
          <ac:spMkLst>
            <pc:docMk/>
            <pc:sldMk cId="4079015974" sldId="261"/>
            <ac:spMk id="2" creationId="{E1388AC5-1AF7-423A-9844-898365E763F8}"/>
          </ac:spMkLst>
        </pc:spChg>
        <pc:spChg chg="del">
          <ac:chgData name="Arjun Mahesh" userId="1b72736296810914" providerId="LiveId" clId="{1F2380D0-CAA0-4BAC-A300-BFFC2A6BBF24}" dt="2025-12-02T04:41:18.848" v="1922" actId="478"/>
          <ac:spMkLst>
            <pc:docMk/>
            <pc:sldMk cId="4079015974" sldId="261"/>
            <ac:spMk id="3" creationId="{52C73996-62CF-2476-6050-18AF1A3B316F}"/>
          </ac:spMkLst>
        </pc:spChg>
        <pc:spChg chg="add mod">
          <ac:chgData name="Arjun Mahesh" userId="1b72736296810914" providerId="LiveId" clId="{1F2380D0-CAA0-4BAC-A300-BFFC2A6BBF24}" dt="2025-12-02T04:44:38.472" v="2096" actId="1076"/>
          <ac:spMkLst>
            <pc:docMk/>
            <pc:sldMk cId="4079015974" sldId="261"/>
            <ac:spMk id="6" creationId="{790853E8-EA65-EA1F-7896-60FDD22CF64D}"/>
          </ac:spMkLst>
        </pc:spChg>
        <pc:spChg chg="add mod">
          <ac:chgData name="Arjun Mahesh" userId="1b72736296810914" providerId="LiveId" clId="{1F2380D0-CAA0-4BAC-A300-BFFC2A6BBF24}" dt="2025-12-02T04:48:09.699" v="2418" actId="20577"/>
          <ac:spMkLst>
            <pc:docMk/>
            <pc:sldMk cId="4079015974" sldId="261"/>
            <ac:spMk id="7" creationId="{20CE3CEC-BAA8-1E85-1DB9-8D62BC595968}"/>
          </ac:spMkLst>
        </pc:spChg>
        <pc:picChg chg="add mod">
          <ac:chgData name="Arjun Mahesh" userId="1b72736296810914" providerId="LiveId" clId="{1F2380D0-CAA0-4BAC-A300-BFFC2A6BBF24}" dt="2025-12-02T04:41:29.904" v="1929" actId="1076"/>
          <ac:picMkLst>
            <pc:docMk/>
            <pc:sldMk cId="4079015974" sldId="261"/>
            <ac:picMk id="5" creationId="{9EA46039-D066-D8FF-216A-D293788F1E5A}"/>
          </ac:picMkLst>
        </pc:picChg>
      </pc:sldChg>
      <pc:sldChg chg="addSp delSp modSp add del mod">
        <pc:chgData name="Arjun Mahesh" userId="1b72736296810914" providerId="LiveId" clId="{1F2380D0-CAA0-4BAC-A300-BFFC2A6BBF24}" dt="2025-12-02T05:07:46.454" v="3500" actId="47"/>
        <pc:sldMkLst>
          <pc:docMk/>
          <pc:sldMk cId="1452581115" sldId="262"/>
        </pc:sldMkLst>
        <pc:spChg chg="mod">
          <ac:chgData name="Arjun Mahesh" userId="1b72736296810914" providerId="LiveId" clId="{1F2380D0-CAA0-4BAC-A300-BFFC2A6BBF24}" dt="2025-12-02T04:48:52.333" v="2493" actId="20577"/>
          <ac:spMkLst>
            <pc:docMk/>
            <pc:sldMk cId="1452581115" sldId="262"/>
            <ac:spMk id="2" creationId="{A22225F2-ED69-DA09-EC1B-9520CDC668A5}"/>
          </ac:spMkLst>
        </pc:spChg>
        <pc:spChg chg="del">
          <ac:chgData name="Arjun Mahesh" userId="1b72736296810914" providerId="LiveId" clId="{1F2380D0-CAA0-4BAC-A300-BFFC2A6BBF24}" dt="2025-12-02T04:49:23.349" v="2494" actId="478"/>
          <ac:spMkLst>
            <pc:docMk/>
            <pc:sldMk cId="1452581115" sldId="262"/>
            <ac:spMk id="3" creationId="{A5C53489-6EAD-9ADC-D223-53795F521F50}"/>
          </ac:spMkLst>
        </pc:spChg>
        <pc:spChg chg="add mod">
          <ac:chgData name="Arjun Mahesh" userId="1b72736296810914" providerId="LiveId" clId="{1F2380D0-CAA0-4BAC-A300-BFFC2A6BBF24}" dt="2025-12-02T04:58:51.346" v="2708" actId="1076"/>
          <ac:spMkLst>
            <pc:docMk/>
            <pc:sldMk cId="1452581115" sldId="262"/>
            <ac:spMk id="6" creationId="{62D8BAD1-BB25-8A7A-F4CD-64F8594F5A15}"/>
          </ac:spMkLst>
        </pc:spChg>
        <pc:spChg chg="add del">
          <ac:chgData name="Arjun Mahesh" userId="1b72736296810914" providerId="LiveId" clId="{1F2380D0-CAA0-4BAC-A300-BFFC2A6BBF24}" dt="2025-12-02T04:52:14.582" v="2539" actId="22"/>
          <ac:spMkLst>
            <pc:docMk/>
            <pc:sldMk cId="1452581115" sldId="262"/>
            <ac:spMk id="8" creationId="{7135EE21-D7DE-7C06-55BB-436416CB6640}"/>
          </ac:spMkLst>
        </pc:spChg>
        <pc:spChg chg="add mod">
          <ac:chgData name="Arjun Mahesh" userId="1b72736296810914" providerId="LiveId" clId="{1F2380D0-CAA0-4BAC-A300-BFFC2A6BBF24}" dt="2025-12-02T05:00:06.637" v="3014" actId="20577"/>
          <ac:spMkLst>
            <pc:docMk/>
            <pc:sldMk cId="1452581115" sldId="262"/>
            <ac:spMk id="9" creationId="{1E6252C8-1385-72E8-E141-58AA387E0885}"/>
          </ac:spMkLst>
        </pc:spChg>
        <pc:picChg chg="add mod">
          <ac:chgData name="Arjun Mahesh" userId="1b72736296810914" providerId="LiveId" clId="{1F2380D0-CAA0-4BAC-A300-BFFC2A6BBF24}" dt="2025-12-02T04:49:31.707" v="2499" actId="1076"/>
          <ac:picMkLst>
            <pc:docMk/>
            <pc:sldMk cId="1452581115" sldId="262"/>
            <ac:picMk id="5" creationId="{C9DA09B4-C3C8-8400-B063-33EE26B79BD7}"/>
          </ac:picMkLst>
        </pc:picChg>
      </pc:sldChg>
      <pc:sldChg chg="addSp delSp modSp add mod">
        <pc:chgData name="Arjun Mahesh" userId="1b72736296810914" providerId="LiveId" clId="{1F2380D0-CAA0-4BAC-A300-BFFC2A6BBF24}" dt="2025-12-02T05:06:56.372" v="3499" actId="113"/>
        <pc:sldMkLst>
          <pc:docMk/>
          <pc:sldMk cId="539040319" sldId="263"/>
        </pc:sldMkLst>
        <pc:spChg chg="mod">
          <ac:chgData name="Arjun Mahesh" userId="1b72736296810914" providerId="LiveId" clId="{1F2380D0-CAA0-4BAC-A300-BFFC2A6BBF24}" dt="2025-12-02T05:01:00.435" v="3097" actId="20577"/>
          <ac:spMkLst>
            <pc:docMk/>
            <pc:sldMk cId="539040319" sldId="263"/>
            <ac:spMk id="2" creationId="{7D41E9E1-4780-A347-D66F-F2763A491DD3}"/>
          </ac:spMkLst>
        </pc:spChg>
        <pc:spChg chg="del">
          <ac:chgData name="Arjun Mahesh" userId="1b72736296810914" providerId="LiveId" clId="{1F2380D0-CAA0-4BAC-A300-BFFC2A6BBF24}" dt="2025-12-02T05:01:06.775" v="3098" actId="478"/>
          <ac:spMkLst>
            <pc:docMk/>
            <pc:sldMk cId="539040319" sldId="263"/>
            <ac:spMk id="3" creationId="{D6F6AE62-6E80-BB50-A23F-83B410141399}"/>
          </ac:spMkLst>
        </pc:spChg>
        <pc:spChg chg="add mod">
          <ac:chgData name="Arjun Mahesh" userId="1b72736296810914" providerId="LiveId" clId="{1F2380D0-CAA0-4BAC-A300-BFFC2A6BBF24}" dt="2025-12-02T05:05:38.879" v="3388" actId="207"/>
          <ac:spMkLst>
            <pc:docMk/>
            <pc:sldMk cId="539040319" sldId="263"/>
            <ac:spMk id="6" creationId="{9A3A5303-69CC-083C-426B-CE94D0AAC353}"/>
          </ac:spMkLst>
        </pc:spChg>
        <pc:spChg chg="add mod">
          <ac:chgData name="Arjun Mahesh" userId="1b72736296810914" providerId="LiveId" clId="{1F2380D0-CAA0-4BAC-A300-BFFC2A6BBF24}" dt="2025-12-02T05:06:56.372" v="3499" actId="113"/>
          <ac:spMkLst>
            <pc:docMk/>
            <pc:sldMk cId="539040319" sldId="263"/>
            <ac:spMk id="7" creationId="{C763D4DE-FD24-8535-ED0E-9DAA64719021}"/>
          </ac:spMkLst>
        </pc:spChg>
        <pc:picChg chg="add mod">
          <ac:chgData name="Arjun Mahesh" userId="1b72736296810914" providerId="LiveId" clId="{1F2380D0-CAA0-4BAC-A300-BFFC2A6BBF24}" dt="2025-12-02T05:02:15.348" v="3104" actId="14100"/>
          <ac:picMkLst>
            <pc:docMk/>
            <pc:sldMk cId="539040319" sldId="263"/>
            <ac:picMk id="5" creationId="{54AA1BC2-FAA4-2757-0CB2-8A11DEDBDFA1}"/>
          </ac:picMkLst>
        </pc:picChg>
      </pc:sldChg>
      <pc:sldChg chg="add del">
        <pc:chgData name="Arjun Mahesh" userId="1b72736296810914" providerId="LiveId" clId="{1F2380D0-CAA0-4BAC-A300-BFFC2A6BBF24}" dt="2025-12-02T05:00:31.177" v="3015" actId="47"/>
        <pc:sldMkLst>
          <pc:docMk/>
          <pc:sldMk cId="2507117703" sldId="264"/>
        </pc:sldMkLst>
      </pc:sldChg>
      <pc:sldChg chg="modSp add del mod modNotesTx">
        <pc:chgData name="Arjun Mahesh" userId="1b72736296810914" providerId="LiveId" clId="{1F2380D0-CAA0-4BAC-A300-BFFC2A6BBF24}" dt="2025-12-02T05:26:02.324" v="4581" actId="20577"/>
        <pc:sldMkLst>
          <pc:docMk/>
          <pc:sldMk cId="755925477" sldId="265"/>
        </pc:sldMkLst>
        <pc:spChg chg="mod">
          <ac:chgData name="Arjun Mahesh" userId="1b72736296810914" providerId="LiveId" clId="{1F2380D0-CAA0-4BAC-A300-BFFC2A6BBF24}" dt="2025-12-02T05:16:52.325" v="3661" actId="20577"/>
          <ac:spMkLst>
            <pc:docMk/>
            <pc:sldMk cId="755925477" sldId="265"/>
            <ac:spMk id="2" creationId="{94CB3BEE-EFC9-944F-C39E-54081A3FE33F}"/>
          </ac:spMkLst>
        </pc:spChg>
        <pc:spChg chg="mod">
          <ac:chgData name="Arjun Mahesh" userId="1b72736296810914" providerId="LiveId" clId="{1F2380D0-CAA0-4BAC-A300-BFFC2A6BBF24}" dt="2025-12-02T05:19:08.470" v="3871" actId="404"/>
          <ac:spMkLst>
            <pc:docMk/>
            <pc:sldMk cId="755925477" sldId="265"/>
            <ac:spMk id="3" creationId="{5B219BBA-AF14-51F6-FEE2-BE382E31607A}"/>
          </ac:spMkLst>
        </pc:spChg>
      </pc:sldChg>
      <pc:sldChg chg="addSp delSp modSp add mod ord">
        <pc:chgData name="Arjun Mahesh" userId="1b72736296810914" providerId="LiveId" clId="{1F2380D0-CAA0-4BAC-A300-BFFC2A6BBF24}" dt="2025-12-02T05:14:37.043" v="3633" actId="113"/>
        <pc:sldMkLst>
          <pc:docMk/>
          <pc:sldMk cId="977959460" sldId="266"/>
        </pc:sldMkLst>
        <pc:spChg chg="mod">
          <ac:chgData name="Arjun Mahesh" userId="1b72736296810914" providerId="LiveId" clId="{1F2380D0-CAA0-4BAC-A300-BFFC2A6BBF24}" dt="2025-12-02T05:08:24.981" v="3523" actId="20577"/>
          <ac:spMkLst>
            <pc:docMk/>
            <pc:sldMk cId="977959460" sldId="266"/>
            <ac:spMk id="2" creationId="{3ABC133E-BB12-0556-5020-8A0E58099032}"/>
          </ac:spMkLst>
        </pc:spChg>
        <pc:spChg chg="add del mod">
          <ac:chgData name="Arjun Mahesh" userId="1b72736296810914" providerId="LiveId" clId="{1F2380D0-CAA0-4BAC-A300-BFFC2A6BBF24}" dt="2025-12-02T05:08:51.861" v="3527" actId="478"/>
          <ac:spMkLst>
            <pc:docMk/>
            <pc:sldMk cId="977959460" sldId="266"/>
            <ac:spMk id="3" creationId="{825EA5CA-C839-C21D-9F31-E1000DEEA4C6}"/>
          </ac:spMkLst>
        </pc:spChg>
        <pc:spChg chg="del">
          <ac:chgData name="Arjun Mahesh" userId="1b72736296810914" providerId="LiveId" clId="{1F2380D0-CAA0-4BAC-A300-BFFC2A6BBF24}" dt="2025-12-02T05:08:46.675" v="3524" actId="478"/>
          <ac:spMkLst>
            <pc:docMk/>
            <pc:sldMk cId="977959460" sldId="266"/>
            <ac:spMk id="6" creationId="{9FD09246-3471-CF6D-CF8F-256F7DBFE161}"/>
          </ac:spMkLst>
        </pc:spChg>
        <pc:spChg chg="del">
          <ac:chgData name="Arjun Mahesh" userId="1b72736296810914" providerId="LiveId" clId="{1F2380D0-CAA0-4BAC-A300-BFFC2A6BBF24}" dt="2025-12-02T05:08:47.923" v="3525" actId="478"/>
          <ac:spMkLst>
            <pc:docMk/>
            <pc:sldMk cId="977959460" sldId="266"/>
            <ac:spMk id="7" creationId="{80162EC3-AA41-B23A-235A-E8C43310B63B}"/>
          </ac:spMkLst>
        </pc:spChg>
        <pc:spChg chg="add mod">
          <ac:chgData name="Arjun Mahesh" userId="1b72736296810914" providerId="LiveId" clId="{1F2380D0-CAA0-4BAC-A300-BFFC2A6BBF24}" dt="2025-12-02T05:14:37.043" v="3633" actId="113"/>
          <ac:spMkLst>
            <pc:docMk/>
            <pc:sldMk cId="977959460" sldId="266"/>
            <ac:spMk id="11" creationId="{D35D92F1-AA85-24C0-701D-0442B8FD2B4A}"/>
          </ac:spMkLst>
        </pc:spChg>
        <pc:graphicFrameChg chg="add mod modGraphic">
          <ac:chgData name="Arjun Mahesh" userId="1b72736296810914" providerId="LiveId" clId="{1F2380D0-CAA0-4BAC-A300-BFFC2A6BBF24}" dt="2025-12-02T05:11:55.889" v="3605" actId="404"/>
          <ac:graphicFrameMkLst>
            <pc:docMk/>
            <pc:sldMk cId="977959460" sldId="266"/>
            <ac:graphicFrameMk id="9" creationId="{49B29E75-8EC9-C7CE-3B74-D9004B2BBCAC}"/>
          </ac:graphicFrameMkLst>
        </pc:graphicFrameChg>
        <pc:graphicFrameChg chg="add mod modGraphic">
          <ac:chgData name="Arjun Mahesh" userId="1b72736296810914" providerId="LiveId" clId="{1F2380D0-CAA0-4BAC-A300-BFFC2A6BBF24}" dt="2025-12-02T05:12:43.124" v="3618" actId="404"/>
          <ac:graphicFrameMkLst>
            <pc:docMk/>
            <pc:sldMk cId="977959460" sldId="266"/>
            <ac:graphicFrameMk id="10" creationId="{27017966-9C56-AD65-3E20-3B81A0ECF005}"/>
          </ac:graphicFrameMkLst>
        </pc:graphicFrameChg>
        <pc:picChg chg="del">
          <ac:chgData name="Arjun Mahesh" userId="1b72736296810914" providerId="LiveId" clId="{1F2380D0-CAA0-4BAC-A300-BFFC2A6BBF24}" dt="2025-12-02T05:08:51.134" v="3526" actId="478"/>
          <ac:picMkLst>
            <pc:docMk/>
            <pc:sldMk cId="977959460" sldId="266"/>
            <ac:picMk id="5" creationId="{5E2D0D0B-0FF6-54A1-84E4-46CA733DD89C}"/>
          </ac:picMkLst>
        </pc:picChg>
        <pc:picChg chg="add mod">
          <ac:chgData name="Arjun Mahesh" userId="1b72736296810914" providerId="LiveId" clId="{1F2380D0-CAA0-4BAC-A300-BFFC2A6BBF24}" dt="2025-12-02T05:09:02.054" v="3532" actId="1076"/>
          <ac:picMkLst>
            <pc:docMk/>
            <pc:sldMk cId="977959460" sldId="266"/>
            <ac:picMk id="8" creationId="{10AC1690-4AC9-0E89-6B02-C70334383516}"/>
          </ac:picMkLst>
        </pc:picChg>
      </pc:sldChg>
      <pc:sldChg chg="add del">
        <pc:chgData name="Arjun Mahesh" userId="1b72736296810914" providerId="LiveId" clId="{1F2380D0-CAA0-4BAC-A300-BFFC2A6BBF24}" dt="2025-12-02T02:23:36.163" v="521" actId="47"/>
        <pc:sldMkLst>
          <pc:docMk/>
          <pc:sldMk cId="1669177378" sldId="266"/>
        </pc:sldMkLst>
      </pc:sldChg>
      <pc:sldChg chg="addSp modSp new mod">
        <pc:chgData name="Arjun Mahesh" userId="1b72736296810914" providerId="LiveId" clId="{1F2380D0-CAA0-4BAC-A300-BFFC2A6BBF24}" dt="2025-12-02T05:16:37.533" v="3651" actId="20577"/>
        <pc:sldMkLst>
          <pc:docMk/>
          <pc:sldMk cId="3570903181" sldId="267"/>
        </pc:sldMkLst>
        <pc:spChg chg="add mod">
          <ac:chgData name="Arjun Mahesh" userId="1b72736296810914" providerId="LiveId" clId="{1F2380D0-CAA0-4BAC-A300-BFFC2A6BBF24}" dt="2025-12-02T05:16:30.349" v="3646" actId="207"/>
          <ac:spMkLst>
            <pc:docMk/>
            <pc:sldMk cId="3570903181" sldId="267"/>
            <ac:spMk id="2" creationId="{02147699-D4A2-56B7-2358-07149D74908C}"/>
          </ac:spMkLst>
        </pc:spChg>
        <pc:spChg chg="add mod">
          <ac:chgData name="Arjun Mahesh" userId="1b72736296810914" providerId="LiveId" clId="{1F2380D0-CAA0-4BAC-A300-BFFC2A6BBF24}" dt="2025-12-02T05:16:37.533" v="3651" actId="20577"/>
          <ac:spMkLst>
            <pc:docMk/>
            <pc:sldMk cId="3570903181" sldId="267"/>
            <ac:spMk id="3" creationId="{7821B867-74D8-09E9-CCD6-96F99619AEB9}"/>
          </ac:spMkLst>
        </pc:spChg>
        <pc:picChg chg="add mod">
          <ac:chgData name="Arjun Mahesh" userId="1b72736296810914" providerId="LiveId" clId="{1F2380D0-CAA0-4BAC-A300-BFFC2A6BBF24}" dt="2025-12-02T05:16:04.013" v="3637" actId="1076"/>
          <ac:picMkLst>
            <pc:docMk/>
            <pc:sldMk cId="3570903181" sldId="267"/>
            <ac:picMk id="3074" creationId="{B98462CC-5400-EAD3-2B99-D09464B93E1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6BFC6B-1593-4BE6-AD6E-0EF88130A516}"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8BCD1-D804-4FC5-849D-7D8353899E5D}" type="slidenum">
              <a:rPr lang="en-US" smtClean="0"/>
              <a:t>‹#›</a:t>
            </a:fld>
            <a:endParaRPr lang="en-US"/>
          </a:p>
        </p:txBody>
      </p:sp>
    </p:spTree>
    <p:extLst>
      <p:ext uri="{BB962C8B-B14F-4D97-AF65-F5344CB8AC3E}">
        <p14:creationId xmlns:p14="http://schemas.microsoft.com/office/powerpoint/2010/main" val="166170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Motivation+Research</a:t>
            </a:r>
            <a:r>
              <a:rPr lang="en-US" dirty="0"/>
              <a:t> Question: </a:t>
            </a:r>
            <a:br>
              <a:rPr lang="en-US" dirty="0"/>
            </a:br>
            <a:r>
              <a:rPr lang="en-US" dirty="0"/>
              <a:t>Defensive success in football depends on coordinated player spacing.</a:t>
            </a:r>
          </a:p>
          <a:p>
            <a:r>
              <a:rPr lang="en-US" dirty="0"/>
              <a:t>Can we quantify spatial “coverage gaps” using TDA (persistent homology)?</a:t>
            </a:r>
          </a:p>
          <a:p>
            <a:r>
              <a:rPr lang="en-US" dirty="0"/>
              <a:t>Goal: Understand how topological features of formations relate to pass outcomes.</a:t>
            </a:r>
          </a:p>
          <a:p>
            <a:endParaRPr lang="en-US" dirty="0"/>
          </a:p>
          <a:p>
            <a:r>
              <a:rPr lang="en-US" dirty="0"/>
              <a:t>In American football, defensive pass coverage creates spatial patterns that determine whether receivers can find open space. Traditional metrics reduce this geometric complexity to scalar quantities such as "yards of separation," losing information about the global structure of defensive formations. This project investigates whether topological data analysis, specifically persistent homology, can capture richer structural information about coverage patterns and whether such topological features correlate with play </a:t>
            </a:r>
            <a:r>
              <a:rPr lang="en-US" dirty="0" err="1"/>
              <a:t>outcomes.The</a:t>
            </a:r>
            <a:r>
              <a:rPr lang="en-US" dirty="0"/>
              <a:t> central research question is: \</a:t>
            </a:r>
            <a:r>
              <a:rPr lang="en-US" dirty="0" err="1"/>
              <a:t>textbf</a:t>
            </a:r>
            <a:r>
              <a:rPr lang="en-US" dirty="0"/>
              <a:t>{Can persistent homology quantify defensive coverage gaps, and do such topological features correlate with pass completion?}</a:t>
            </a:r>
          </a:p>
          <a:p>
            <a:br>
              <a:rPr lang="en-US" dirty="0"/>
            </a:br>
            <a:r>
              <a:rPr lang="en-US" dirty="0"/>
              <a:t>TDA has been successfully applied to sports analytics in prior work. Pierson et al. used persistent homology on NBA roster Data to identify topological signatures correlated with offensive performance \cite{pierson2019}. In soccer, TDA-based methods have captured nonlinear relationships in player positioning that traditional clustering misses \cite{wu2022}. Our work extends this methodology to NFL defensive formations, where the geometric interpretation of $H_1$ as "holes" directly corresponds to open passing </a:t>
            </a:r>
            <a:r>
              <a:rPr lang="en-US" dirty="0" err="1"/>
              <a:t>lanes.The</a:t>
            </a:r>
            <a:r>
              <a:rPr lang="en-US" dirty="0"/>
              <a:t> contributions of this project include: (1) a complete pipeline for computing persistent homology from NFL tracking data, (2) statistical analysis relating topological features to pass outcomes, (3) temporal extension tracking topology evolution during plays, and (4) unsupervised coverage type classification using $H_1$ signatures.</a:t>
            </a:r>
          </a:p>
          <a:p>
            <a:endParaRPr lang="en-US" dirty="0"/>
          </a:p>
          <a:p>
            <a:r>
              <a:rPr lang="en-US" sz="1200" kern="1200" dirty="0">
                <a:solidFill>
                  <a:schemeClr val="tx1"/>
                </a:solidFill>
                <a:effectLst/>
                <a:latin typeface="+mn-lt"/>
                <a:ea typeface="+mn-ea"/>
                <a:cs typeface="+mn-cs"/>
              </a:rPr>
              <a:t>Persistence Diagrams</a:t>
            </a:r>
          </a:p>
          <a:p>
            <a:r>
              <a:rPr lang="en-US" sz="1200" kern="1200" dirty="0">
                <a:solidFill>
                  <a:schemeClr val="tx1"/>
                </a:solidFill>
                <a:effectLst/>
                <a:latin typeface="+mn-lt"/>
                <a:ea typeface="+mn-ea"/>
                <a:cs typeface="+mn-cs"/>
              </a:rPr>
              <a:t>Landscapes/Images</a:t>
            </a:r>
          </a:p>
          <a:p>
            <a:r>
              <a:rPr lang="en-US" sz="1200" kern="1200" dirty="0">
                <a:solidFill>
                  <a:schemeClr val="tx1"/>
                </a:solidFill>
                <a:effectLst/>
                <a:latin typeface="+mn-lt"/>
                <a:ea typeface="+mn-ea"/>
                <a:cs typeface="+mn-cs"/>
              </a:rPr>
              <a:t>Betti Curves</a:t>
            </a:r>
          </a:p>
          <a:p>
            <a:r>
              <a:rPr lang="en-US" sz="1200" kern="1200" dirty="0">
                <a:solidFill>
                  <a:schemeClr val="tx1"/>
                </a:solidFill>
                <a:effectLst/>
                <a:latin typeface="+mn-lt"/>
                <a:ea typeface="+mn-ea"/>
                <a:cs typeface="+mn-cs"/>
              </a:rPr>
              <a:t>Bottleneck/Wasserstein</a:t>
            </a:r>
          </a:p>
          <a:p>
            <a:r>
              <a:rPr lang="en-US" sz="1200" kern="1200" dirty="0">
                <a:solidFill>
                  <a:schemeClr val="tx1"/>
                </a:solidFill>
                <a:effectLst/>
                <a:latin typeface="+mn-lt"/>
                <a:ea typeface="+mn-ea"/>
                <a:cs typeface="+mn-cs"/>
              </a:rPr>
              <a:t>Permutation Tests</a:t>
            </a:r>
          </a:p>
          <a:p>
            <a:r>
              <a:rPr lang="en-US" sz="1200" kern="1200" dirty="0">
                <a:solidFill>
                  <a:schemeClr val="tx1"/>
                </a:solidFill>
                <a:effectLst/>
                <a:latin typeface="+mn-lt"/>
                <a:ea typeface="+mn-ea"/>
                <a:cs typeface="+mn-cs"/>
              </a:rPr>
              <a:t>Mapper</a:t>
            </a:r>
          </a:p>
          <a:p>
            <a:r>
              <a:rPr lang="en-US" sz="1200" kern="1200" dirty="0">
                <a:solidFill>
                  <a:schemeClr val="tx1"/>
                </a:solidFill>
                <a:effectLst/>
                <a:latin typeface="+mn-lt"/>
                <a:ea typeface="+mn-ea"/>
                <a:cs typeface="+mn-cs"/>
              </a:rPr>
              <a:t>Clustering/MDS</a:t>
            </a:r>
          </a:p>
          <a:p>
            <a:r>
              <a:rPr lang="en-US" sz="1200" kern="1200" dirty="0">
                <a:solidFill>
                  <a:schemeClr val="tx1"/>
                </a:solidFill>
                <a:effectLst/>
                <a:latin typeface="+mn-lt"/>
                <a:ea typeface="+mn-ea"/>
                <a:cs typeface="+mn-cs"/>
              </a:rPr>
              <a:t>Temporal H1</a:t>
            </a:r>
          </a:p>
          <a:p>
            <a:r>
              <a:rPr lang="en-US" sz="1200" kern="1200" dirty="0">
                <a:solidFill>
                  <a:schemeClr val="tx1"/>
                </a:solidFill>
                <a:effectLst/>
                <a:latin typeface="+mn-lt"/>
                <a:ea typeface="+mn-ea"/>
                <a:cs typeface="+mn-cs"/>
              </a:rPr>
              <a:t>Disguise Metric</a:t>
            </a:r>
          </a:p>
          <a:p>
            <a:r>
              <a:rPr lang="en-US" sz="1200" kern="1200" dirty="0">
                <a:solidFill>
                  <a:schemeClr val="tx1"/>
                </a:solidFill>
                <a:effectLst/>
                <a:latin typeface="+mn-lt"/>
                <a:ea typeface="+mn-ea"/>
                <a:cs typeface="+mn-cs"/>
              </a:rPr>
              <a:t>Betti Surfaces</a:t>
            </a:r>
          </a:p>
          <a:p>
            <a:endParaRPr lang="en-US" dirty="0"/>
          </a:p>
        </p:txBody>
      </p:sp>
      <p:sp>
        <p:nvSpPr>
          <p:cNvPr id="4" name="Slide Number Placeholder 3"/>
          <p:cNvSpPr>
            <a:spLocks noGrp="1"/>
          </p:cNvSpPr>
          <p:nvPr>
            <p:ph type="sldNum" sz="quarter" idx="5"/>
          </p:nvPr>
        </p:nvSpPr>
        <p:spPr/>
        <p:txBody>
          <a:bodyPr/>
          <a:lstStyle/>
          <a:p>
            <a:fld id="{8598BCD1-D804-4FC5-849D-7D8353899E5D}" type="slidenum">
              <a:rPr lang="en-US" smtClean="0"/>
              <a:t>1</a:t>
            </a:fld>
            <a:endParaRPr lang="en-US"/>
          </a:p>
        </p:txBody>
      </p:sp>
    </p:spTree>
    <p:extLst>
      <p:ext uri="{BB962C8B-B14F-4D97-AF65-F5344CB8AC3E}">
        <p14:creationId xmlns:p14="http://schemas.microsoft.com/office/powerpoint/2010/main" val="265160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 games, 19,237 passing plays, 986,022 total tracking frames</a:t>
            </a:r>
            <a:br>
              <a:rPr lang="en-US" dirty="0"/>
            </a:br>
            <a:r>
              <a:rPr lang="en-US" dirty="0"/>
              <a:t>For static analysis, we extract defender positions at the moment of pass release (identified by the \</a:t>
            </a:r>
            <a:r>
              <a:rPr lang="en-US" dirty="0" err="1"/>
              <a:t>texttt</a:t>
            </a:r>
            <a:r>
              <a:rPr lang="en-US" dirty="0"/>
              <a:t>{pass\_forward} event), yielding 17,740 usable plays after filtering for data quality. The average number of defenders per play is 7.7, with range 4--11. For temporal analysis, we extract formations at 9 time points per play from snap to pass outcome, covering 962 plays with complete temporal data.</a:t>
            </a:r>
            <a:br>
              <a:rPr lang="en-US" dirty="0"/>
            </a:br>
            <a:br>
              <a:rPr lang="en-US" dirty="0"/>
            </a:br>
            <a:r>
              <a:rPr lang="en-US" dirty="0"/>
              <a:t>The blue dots (H₀) show 6 defenders merging into 1 component as scale increases. The red square (H₁) shows one coverage gap born at ~8.7 yards, dying at ~10.5 yards — a 1.8-yard persistent hole. The barcode visualizes this H₁ feature's lifespan.</a:t>
            </a:r>
          </a:p>
        </p:txBody>
      </p:sp>
      <p:sp>
        <p:nvSpPr>
          <p:cNvPr id="4" name="Slide Number Placeholder 3"/>
          <p:cNvSpPr>
            <a:spLocks noGrp="1"/>
          </p:cNvSpPr>
          <p:nvPr>
            <p:ph type="sldNum" sz="quarter" idx="5"/>
          </p:nvPr>
        </p:nvSpPr>
        <p:spPr/>
        <p:txBody>
          <a:bodyPr/>
          <a:lstStyle/>
          <a:p>
            <a:fld id="{8598BCD1-D804-4FC5-849D-7D8353899E5D}" type="slidenum">
              <a:rPr lang="en-US" smtClean="0"/>
              <a:t>2</a:t>
            </a:fld>
            <a:endParaRPr lang="en-US"/>
          </a:p>
        </p:txBody>
      </p:sp>
    </p:spTree>
    <p:extLst>
      <p:ext uri="{BB962C8B-B14F-4D97-AF65-F5344CB8AC3E}">
        <p14:creationId xmlns:p14="http://schemas.microsoft.com/office/powerpoint/2010/main" val="87481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computing persistence for all the plays, we extract summary statistics. The distributions show most plays have tight coverage (0 gaps), but a meaningful subset shows persistent holes. This motivates asking: do these gaps correlate with completion?</a:t>
            </a:r>
          </a:p>
        </p:txBody>
      </p:sp>
      <p:sp>
        <p:nvSpPr>
          <p:cNvPr id="4" name="Slide Number Placeholder 3"/>
          <p:cNvSpPr>
            <a:spLocks noGrp="1"/>
          </p:cNvSpPr>
          <p:nvPr>
            <p:ph type="sldNum" sz="quarter" idx="5"/>
          </p:nvPr>
        </p:nvSpPr>
        <p:spPr/>
        <p:txBody>
          <a:bodyPr/>
          <a:lstStyle/>
          <a:p>
            <a:fld id="{8598BCD1-D804-4FC5-849D-7D8353899E5D}" type="slidenum">
              <a:rPr lang="en-US" smtClean="0"/>
              <a:t>3</a:t>
            </a:fld>
            <a:endParaRPr lang="en-US"/>
          </a:p>
        </p:txBody>
      </p:sp>
    </p:spTree>
    <p:extLst>
      <p:ext uri="{BB962C8B-B14F-4D97-AF65-F5344CB8AC3E}">
        <p14:creationId xmlns:p14="http://schemas.microsoft.com/office/powerpoint/2010/main" val="3810759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Statistically significant difference in max H₁ persistence (p=0.005). </a:t>
            </a:r>
            <a:br>
              <a:rPr lang="en-US" dirty="0"/>
            </a:br>
            <a:r>
              <a:rPr lang="en-US" dirty="0"/>
              <a:t>This suggests coverage gaps at the moment of pass aren't simply "open = completion." Defenses may intentionally create deceptive openings, or quarterbacks misread coverage depth. The box plots show substantial overlap but the tails differ.</a:t>
            </a:r>
          </a:p>
        </p:txBody>
      </p:sp>
      <p:sp>
        <p:nvSpPr>
          <p:cNvPr id="4" name="Slide Number Placeholder 3"/>
          <p:cNvSpPr>
            <a:spLocks noGrp="1"/>
          </p:cNvSpPr>
          <p:nvPr>
            <p:ph type="sldNum" sz="quarter" idx="5"/>
          </p:nvPr>
        </p:nvSpPr>
        <p:spPr/>
        <p:txBody>
          <a:bodyPr/>
          <a:lstStyle/>
          <a:p>
            <a:fld id="{8598BCD1-D804-4FC5-849D-7D8353899E5D}" type="slidenum">
              <a:rPr lang="en-US" smtClean="0"/>
              <a:t>4</a:t>
            </a:fld>
            <a:endParaRPr lang="en-US"/>
          </a:p>
        </p:txBody>
      </p:sp>
    </p:spTree>
    <p:extLst>
      <p:ext uri="{BB962C8B-B14F-4D97-AF65-F5344CB8AC3E}">
        <p14:creationId xmlns:p14="http://schemas.microsoft.com/office/powerpoint/2010/main" val="1433099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landscapes convert diagrams into functional summaries we can average and compare statistically. The mean landscape for incomplete passes dominates complete passes — again showing larger topological features in failed plays. The peak around 16 yards suggests this is a critical scale for defensive holes.</a:t>
            </a:r>
          </a:p>
        </p:txBody>
      </p:sp>
      <p:sp>
        <p:nvSpPr>
          <p:cNvPr id="4" name="Slide Number Placeholder 3"/>
          <p:cNvSpPr>
            <a:spLocks noGrp="1"/>
          </p:cNvSpPr>
          <p:nvPr>
            <p:ph type="sldNum" sz="quarter" idx="5"/>
          </p:nvPr>
        </p:nvSpPr>
        <p:spPr/>
        <p:txBody>
          <a:bodyPr/>
          <a:lstStyle/>
          <a:p>
            <a:fld id="{8598BCD1-D804-4FC5-849D-7D8353899E5D}" type="slidenum">
              <a:rPr lang="en-US" smtClean="0"/>
              <a:t>5</a:t>
            </a:fld>
            <a:endParaRPr lang="en-US"/>
          </a:p>
        </p:txBody>
      </p:sp>
    </p:spTree>
    <p:extLst>
      <p:ext uri="{BB962C8B-B14F-4D97-AF65-F5344CB8AC3E}">
        <p14:creationId xmlns:p14="http://schemas.microsoft.com/office/powerpoint/2010/main" val="1623714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tracked topology across 962 plays at 9 time points each. Coverage gaps are largest at the snap and shrink as defenders react. Critically, complete passes show consistently higher H₁ features throughout — suggesting successful quarterbacks target gaps that form early and persist. The H₀ stability indicates defenders maintain relative positioning even as gaps close.</a:t>
            </a:r>
          </a:p>
        </p:txBody>
      </p:sp>
      <p:sp>
        <p:nvSpPr>
          <p:cNvPr id="4" name="Slide Number Placeholder 3"/>
          <p:cNvSpPr>
            <a:spLocks noGrp="1"/>
          </p:cNvSpPr>
          <p:nvPr>
            <p:ph type="sldNum" sz="quarter" idx="5"/>
          </p:nvPr>
        </p:nvSpPr>
        <p:spPr/>
        <p:txBody>
          <a:bodyPr/>
          <a:lstStyle/>
          <a:p>
            <a:fld id="{8598BCD1-D804-4FC5-849D-7D8353899E5D}" type="slidenum">
              <a:rPr lang="en-US" smtClean="0"/>
              <a:t>6</a:t>
            </a:fld>
            <a:endParaRPr lang="en-US"/>
          </a:p>
        </p:txBody>
      </p:sp>
    </p:spTree>
    <p:extLst>
      <p:ext uri="{BB962C8B-B14F-4D97-AF65-F5344CB8AC3E}">
        <p14:creationId xmlns:p14="http://schemas.microsoft.com/office/powerpoint/2010/main" val="3678714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03838-9670-3F26-1106-6B0841659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DD584-7208-9102-983F-BD7D00BBC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9B3DE-776B-543E-6BE3-0B3357E5D02F}"/>
              </a:ext>
            </a:extLst>
          </p:cNvPr>
          <p:cNvSpPr>
            <a:spLocks noGrp="1"/>
          </p:cNvSpPr>
          <p:nvPr>
            <p:ph type="body" idx="1"/>
          </p:nvPr>
        </p:nvSpPr>
        <p:spPr/>
        <p:txBody>
          <a:bodyPr/>
          <a:lstStyle/>
          <a:p>
            <a:r>
              <a:rPr lang="en-US" dirty="0"/>
              <a:t>Without any coverage labels, clustering on H₁ features alone recovers zone vs man distinction — zone defenses create territorial gaps by design, man coverage stays tight to receivers.</a:t>
            </a:r>
          </a:p>
        </p:txBody>
      </p:sp>
      <p:sp>
        <p:nvSpPr>
          <p:cNvPr id="4" name="Slide Number Placeholder 3">
            <a:extLst>
              <a:ext uri="{FF2B5EF4-FFF2-40B4-BE49-F238E27FC236}">
                <a16:creationId xmlns:a16="http://schemas.microsoft.com/office/drawing/2014/main" id="{EBD1ABFD-AA8E-4F74-57C3-4B95C459444C}"/>
              </a:ext>
            </a:extLst>
          </p:cNvPr>
          <p:cNvSpPr>
            <a:spLocks noGrp="1"/>
          </p:cNvSpPr>
          <p:nvPr>
            <p:ph type="sldNum" sz="quarter" idx="5"/>
          </p:nvPr>
        </p:nvSpPr>
        <p:spPr/>
        <p:txBody>
          <a:bodyPr/>
          <a:lstStyle/>
          <a:p>
            <a:fld id="{8598BCD1-D804-4FC5-849D-7D8353899E5D}" type="slidenum">
              <a:rPr lang="en-US" smtClean="0"/>
              <a:t>8</a:t>
            </a:fld>
            <a:endParaRPr lang="en-US"/>
          </a:p>
        </p:txBody>
      </p:sp>
    </p:spTree>
    <p:extLst>
      <p:ext uri="{BB962C8B-B14F-4D97-AF65-F5344CB8AC3E}">
        <p14:creationId xmlns:p14="http://schemas.microsoft.com/office/powerpoint/2010/main" val="134697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Persistence Diagrams: “What gaps exist in this formation?”</a:t>
                </a:r>
                <a:br>
                  <a:rPr lang="en-US" dirty="0"/>
                </a:br>
                <a:r>
                  <a:rPr lang="en-US" dirty="0"/>
                  <a:t>Landscapes/Images: “How do I average/vectorize diagrams for stats/ML?”</a:t>
                </a:r>
                <a:br>
                  <a:rPr lang="en-US" dirty="0"/>
                </a:br>
                <a:r>
                  <a:rPr lang="en-US" dirty="0"/>
                  <a:t>Betti Curves: “At what scale do gaps appear?”</a:t>
                </a:r>
                <a:br>
                  <a:rPr lang="en-US" dirty="0"/>
                </a:br>
                <a:r>
                  <a:rPr lang="en-US" dirty="0"/>
                  <a:t>Bottleneck/Wasserstein: “How similar are two formations topologically?”</a:t>
                </a:r>
              </a:p>
              <a:p>
                <a:r>
                  <a:rPr lang="en-US" dirty="0"/>
                  <a:t>Permutation Tests: “Is the difference statistically significant?”</a:t>
                </a:r>
                <a:br>
                  <a:rPr lang="en-US" dirty="0"/>
                </a:br>
                <a:r>
                  <a:rPr lang="en-US" dirty="0"/>
                  <a:t>Mapper: “What is the global shape of formation space?”</a:t>
                </a:r>
                <a:br>
                  <a:rPr lang="en-US" dirty="0"/>
                </a:br>
                <a:r>
                  <a:rPr lang="en-US" dirty="0"/>
                  <a:t>Clustering/MDS: “Are there natural formation types? Can I visualize?”</a:t>
                </a:r>
                <a:br>
                  <a:rPr lang="en-US" dirty="0"/>
                </a:br>
                <a:r>
                  <a:rPr lang="en-US" dirty="0"/>
                  <a:t>Temporal H1: “How do gaps evolve during a play?”</a:t>
                </a:r>
                <a:br>
                  <a:rPr lang="en-US" dirty="0"/>
                </a:br>
                <a:r>
                  <a:rPr lang="en-US" dirty="0"/>
                  <a:t>Disguise Metric: “Did the defense change structure mid-play?”</a:t>
                </a:r>
                <a:br>
                  <a:rPr lang="en-US" dirty="0"/>
                </a:br>
                <a:r>
                  <a:rPr lang="en-US" dirty="0"/>
                  <a:t>Betti Surfaces: “where and when are defenses most vulnerable?”</a:t>
                </a:r>
              </a:p>
              <a:p>
                <a:endParaRPr lang="en-US" dirty="0"/>
              </a:p>
              <a:p>
                <a:endParaRPr lang="en-US" dirty="0"/>
              </a:p>
              <a:p>
                <a:endParaRPr lang="en-US" dirty="0"/>
              </a:p>
              <a:p>
                <a:r>
                  <a:rPr lang="en-US" b="1" dirty="0"/>
                  <a:t>Static TDA Techniques</a:t>
                </a:r>
              </a:p>
              <a:p>
                <a:r>
                  <a:rPr lang="en-US" b="1" dirty="0"/>
                  <a:t>1. Persistence Landscapes</a:t>
                </a:r>
              </a:p>
              <a:p>
                <a:r>
                  <a:rPr lang="en-US" b="1" dirty="0"/>
                  <a:t>Purpose:</a:t>
                </a:r>
                <a:r>
                  <a:rPr lang="en-US" dirty="0"/>
                  <a:t> Enable statistical comparison between groups</a:t>
                </a:r>
              </a:p>
              <a:p>
                <a:r>
                  <a:rPr lang="en-US" b="1" dirty="0"/>
                  <a:t>Why you computed it:</a:t>
                </a:r>
                <a:r>
                  <a:rPr lang="en-US" dirty="0"/>
                  <a:t> Raw persistence diagrams can't be averaged (they're multisets of varying cardinality). Landscapes map diagrams to a Banach space where you can compute means, variances, and confidence bands. This lets you ask: "Is the </a:t>
                </a:r>
                <a:r>
                  <a:rPr lang="en-US" i="1" dirty="0"/>
                  <a:t>average</a:t>
                </a:r>
                <a:r>
                  <a:rPr lang="en-US" dirty="0"/>
                  <a:t> topological signature of complete passes different from incomplete passes?" Your landscape plot (Image 4) showed incomplete passes have higher mean </a:t>
                </a:r>
                <a:r>
                  <a:rPr lang="el-GR" dirty="0"/>
                  <a:t>λ₁(</a:t>
                </a:r>
                <a:r>
                  <a:rPr lang="en-US" dirty="0"/>
                  <a:t>t), quantifying the group difference functionally.</a:t>
                </a:r>
              </a:p>
              <a:p>
                <a:br>
                  <a:rPr lang="en-US" dirty="0"/>
                </a:br>
                <a:endParaRPr lang="en-US" dirty="0"/>
              </a:p>
              <a:p>
                <a:r>
                  <a:rPr lang="en-US" b="1" dirty="0"/>
                  <a:t>2. Persistence Images</a:t>
                </a:r>
              </a:p>
              <a:p>
                <a:r>
                  <a:rPr lang="en-US" b="1" dirty="0"/>
                  <a:t>Purpose:</a:t>
                </a:r>
                <a:r>
                  <a:rPr lang="en-US" dirty="0"/>
                  <a:t> Fixed-dimensional vectorization for ML pipelines</a:t>
                </a:r>
              </a:p>
              <a:p>
                <a:r>
                  <a:rPr lang="en-US" b="1" dirty="0"/>
                  <a:t>Why you computed it:</a:t>
                </a:r>
                <a:r>
                  <a:rPr lang="en-US" dirty="0"/>
                  <a:t> If you wanted to feed topological features into a classifier (e.g., logistic regression predicting completion), you need fixed-size vectors. Persistence images discretize the birth-death plane into a grid, weight by persistence, and smooth with a Gaussian. Your 3-panel image (Large Gap / Small Gap / No Gaps) shows how different coverage patterns produce visually distinct "fingerprints." This enables downstream classification or clustering with standard ML tools.</a:t>
                </a:r>
              </a:p>
              <a:p>
                <a:br>
                  <a:rPr lang="en-US" dirty="0"/>
                </a:br>
                <a:endParaRPr lang="en-US" dirty="0"/>
              </a:p>
              <a:p>
                <a:r>
                  <a:rPr lang="en-US" b="1" dirty="0"/>
                  <a:t>3. Betti Curves</a:t>
                </a:r>
              </a:p>
              <a:p>
                <a:r>
                  <a:rPr lang="en-US" b="1" dirty="0"/>
                  <a:t>Purpose:</a:t>
                </a:r>
                <a:r>
                  <a:rPr lang="en-US" dirty="0"/>
                  <a:t> Track feature counts across all filtration scales</a:t>
                </a:r>
              </a:p>
              <a:p>
                <a:r>
                  <a:rPr lang="en-US" b="1" dirty="0"/>
                  <a:t>Why you computed it:</a:t>
                </a:r>
                <a:r>
                  <a:rPr lang="en-US" dirty="0"/>
                  <a:t> </a:t>
                </a:r>
                <a:r>
                  <a:rPr lang="el-GR" dirty="0"/>
                  <a:t>β₀(ε) </a:t>
                </a:r>
                <a:r>
                  <a:rPr lang="en-US" dirty="0"/>
                  <a:t>tells you "how many defender clusters exist at scale </a:t>
                </a:r>
                <a:r>
                  <a:rPr lang="el-GR" dirty="0"/>
                  <a:t>ε" </a:t>
                </a:r>
                <a:r>
                  <a:rPr lang="en-US" dirty="0"/>
                  <a:t>and </a:t>
                </a:r>
                <a:r>
                  <a:rPr lang="el-GR" dirty="0"/>
                  <a:t>β₁(ε) </a:t>
                </a:r>
                <a:r>
                  <a:rPr lang="en-US" dirty="0"/>
                  <a:t>tells you "how many coverage holes exist at scale </a:t>
                </a:r>
                <a:r>
                  <a:rPr lang="el-GR" dirty="0"/>
                  <a:t>ε." </a:t>
                </a:r>
                <a:r>
                  <a:rPr lang="en-US" dirty="0"/>
                  <a:t>Your Betti curve plot (Image 6) shows </a:t>
                </a:r>
                <a:r>
                  <a:rPr lang="el-GR" dirty="0"/>
                  <a:t>β₀ </a:t>
                </a:r>
                <a:r>
                  <a:rPr lang="en-US" dirty="0"/>
                  <a:t>starting at 6 (isolated defenders) and decreasing as clusters merge, while </a:t>
                </a:r>
                <a:r>
                  <a:rPr lang="el-GR" dirty="0"/>
                  <a:t>β₁ = 1 </a:t>
                </a:r>
                <a:r>
                  <a:rPr lang="en-US" dirty="0"/>
                  <a:t>for </a:t>
                </a:r>
                <a:r>
                  <a:rPr lang="el-GR" dirty="0"/>
                  <a:t>ε ∈ [8.75, 10.5] </a:t>
                </a:r>
                <a:r>
                  <a:rPr lang="en-US" dirty="0"/>
                  <a:t>yards — precisely localizing where the coverage gap lives in scale-space. This gives interpretable, scale-specific information beyond summary statistics.</a:t>
                </a:r>
              </a:p>
              <a:p>
                <a:br>
                  <a:rPr lang="en-US" dirty="0"/>
                </a:br>
                <a:endParaRPr lang="en-US" dirty="0"/>
              </a:p>
              <a:p>
                <a:r>
                  <a:rPr lang="en-US" b="1" dirty="0"/>
                  <a:t>4. Bottleneck Distance</a:t>
                </a:r>
              </a:p>
              <a:p>
                <a:r>
                  <a:rPr lang="en-US" b="1" dirty="0"/>
                  <a:t>Purpose:</a:t>
                </a:r>
                <a:r>
                  <a:rPr lang="en-US" dirty="0"/>
                  <a:t> Principled metric on persistence diagrams with stability guarantees</a:t>
                </a:r>
              </a:p>
              <a:p>
                <a:r>
                  <a:rPr lang="en-US" b="1" dirty="0"/>
                  <a:t>Why you computed it:</a:t>
                </a:r>
                <a:r>
                  <a:rPr lang="en-US" dirty="0"/>
                  <a:t> To compare </a:t>
                </a:r>
                <a:r>
                  <a:rPr lang="en-US" i="1" dirty="0"/>
                  <a:t>individual</a:t>
                </a:r>
                <a:r>
                  <a:rPr lang="en-US" dirty="0"/>
                  <a:t> formations, you need a distance function. Bottleneck distance satisfies the </a:t>
                </a:r>
                <a:r>
                  <a:rPr lang="en-US" b="1" dirty="0"/>
                  <a:t>stability theorem</a:t>
                </a:r>
                <a:r>
                  <a:rPr lang="en-US" dirty="0"/>
                  <a:t>: if point clouds are perturbed by at most </a:t>
                </a:r>
                <a:r>
                  <a:rPr lang="el-GR" dirty="0"/>
                  <a:t>δ, </a:t>
                </a:r>
                <a:r>
                  <a:rPr lang="en-US" dirty="0"/>
                  <a:t>their diagrams move by at most </a:t>
                </a:r>
                <a:r>
                  <a:rPr lang="el-GR" dirty="0"/>
                  <a:t>δ </a:t>
                </a:r>
                <a:r>
                  <a:rPr lang="en-US" dirty="0"/>
                  <a:t>in bottleneck distance. This means your comparisons are robust to noise (player tracking error, slight positional shifts). Your distance matrix (Image 7) uses this to find which plays have similar/different topological structure.</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𝑑</m:t>
                          </m:r>
                        </m:e>
                        <m:sub>
                          <m:r>
                            <a:rPr lang="ar-AE" sz="1200" i="1" kern="1200">
                              <a:solidFill>
                                <a:schemeClr val="tx1"/>
                              </a:solidFill>
                              <a:latin typeface="Cambria Math" panose="02040503050406030204" pitchFamily="18" charset="0"/>
                              <a:ea typeface="+mn-ea"/>
                              <a:cs typeface="+mn-cs"/>
                            </a:rPr>
                            <m:t>𝐵</m:t>
                          </m:r>
                        </m:sub>
                      </m:sSub>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1</m:t>
                              </m:r>
                            </m:sub>
                          </m:sSub>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2</m:t>
                              </m:r>
                            </m:sub>
                          </m:sSub>
                        </m:e>
                      </m:d>
                      <m:r>
                        <a:rPr lang="ar-AE" sz="1200" i="0" kern="1200">
                          <a:solidFill>
                            <a:schemeClr val="tx1"/>
                          </a:solidFill>
                          <a:latin typeface="Cambria Math" panose="02040503050406030204" pitchFamily="18" charset="0"/>
                          <a:ea typeface="+mn-ea"/>
                          <a:cs typeface="+mn-cs"/>
                        </a:rPr>
                        <m:t>=</m:t>
                      </m:r>
                      <m:limLow>
                        <m:limLowPr>
                          <m:ctrlPr>
                            <a:rPr lang="ar-AE" sz="1200" i="1" kern="1200">
                              <a:solidFill>
                                <a:schemeClr val="tx1"/>
                              </a:solidFill>
                              <a:latin typeface="Cambria Math" panose="02040503050406030204" pitchFamily="18" charset="0"/>
                              <a:ea typeface="+mn-ea"/>
                              <a:cs typeface="+mn-cs"/>
                            </a:rPr>
                          </m:ctrlPr>
                        </m:limLow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inf</m:t>
                              </m:r>
                            </m:fName>
                            <m:e/>
                          </m:func>
                        </m:e>
                        <m:lim>
                          <m:r>
                            <a:rPr lang="ar-AE" sz="1200" i="1" kern="1200">
                              <a:solidFill>
                                <a:schemeClr val="tx1"/>
                              </a:solidFill>
                              <a:latin typeface="Cambria Math" panose="02040503050406030204" pitchFamily="18" charset="0"/>
                              <a:ea typeface="+mn-ea"/>
                              <a:cs typeface="+mn-cs"/>
                            </a:rPr>
                            <m:t>𝛾</m:t>
                          </m:r>
                        </m:lim>
                      </m:limLow>
                      <m:limLow>
                        <m:limLowPr>
                          <m:ctrlPr>
                            <a:rPr lang="ar-AE" sz="1200" i="1" kern="1200">
                              <a:solidFill>
                                <a:schemeClr val="tx1"/>
                              </a:solidFill>
                              <a:latin typeface="Cambria Math" panose="02040503050406030204" pitchFamily="18" charset="0"/>
                              <a:ea typeface="+mn-ea"/>
                              <a:cs typeface="+mn-cs"/>
                            </a:rPr>
                          </m:ctrlPr>
                        </m:limLow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sup</m:t>
                              </m:r>
                            </m:fName>
                            <m:e/>
                          </m:func>
                        </m:e>
                        <m:lim>
                          <m:r>
                            <a:rPr lang="ar-AE" sz="1200" i="1" kern="1200">
                              <a:solidFill>
                                <a:schemeClr val="tx1"/>
                              </a:solidFill>
                              <a:latin typeface="Cambria Math" panose="02040503050406030204" pitchFamily="18" charset="0"/>
                              <a:ea typeface="+mn-ea"/>
                              <a:cs typeface="+mn-cs"/>
                            </a:rPr>
                            <m:t>𝑥</m:t>
                          </m:r>
                        </m:lim>
                      </m:limLow>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𝑥</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𝛾</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sSub>
                        <m:sSubPr>
                          <m:ctrlPr>
                            <a:rPr lang="ar-AE" sz="1200" i="1" kern="1200">
                              <a:solidFill>
                                <a:schemeClr val="tx1"/>
                              </a:solidFill>
                              <a:latin typeface="Cambria Math" panose="02040503050406030204" pitchFamily="18" charset="0"/>
                              <a:ea typeface="+mn-ea"/>
                              <a:cs typeface="+mn-cs"/>
                            </a:rPr>
                          </m:ctrlPr>
                        </m:sSubPr>
                        <m:e>
                          <m:r>
                            <a:rPr lang="ar-AE" sz="1200" i="0" kern="1200">
                              <a:solidFill>
                                <a:schemeClr val="tx1"/>
                              </a:solidFill>
                              <a:latin typeface="Cambria Math" panose="02040503050406030204" pitchFamily="18" charset="0"/>
                              <a:ea typeface="+mn-ea"/>
                              <a:cs typeface="+mn-cs"/>
                            </a:rPr>
                            <m:t>∥</m:t>
                          </m:r>
                        </m:e>
                        <m:sub>
                          <m:r>
                            <a:rPr lang="ar-AE" sz="1200" i="0" kern="1200">
                              <a:solidFill>
                                <a:schemeClr val="tx1"/>
                              </a:solidFill>
                              <a:latin typeface="Cambria Math" panose="02040503050406030204" pitchFamily="18" charset="0"/>
                              <a:ea typeface="+mn-ea"/>
                              <a:cs typeface="+mn-cs"/>
                            </a:rPr>
                            <m:t>∞</m:t>
                          </m:r>
                        </m:sub>
                      </m:sSub>
                    </m:oMath>
                  </m:oMathPara>
                </a14:m>
                <a:endParaRPr lang="ar-AE" dirty="0"/>
              </a:p>
              <a:p>
                <a:br>
                  <a:rPr lang="ar-AE" dirty="0"/>
                </a:br>
                <a:endParaRPr lang="ar-AE" dirty="0"/>
              </a:p>
              <a:p>
                <a:r>
                  <a:rPr lang="ar-AE" b="1" dirty="0"/>
                  <a:t>5. </a:t>
                </a:r>
                <a:r>
                  <a:rPr lang="en-US" b="1" dirty="0"/>
                  <a:t>Wasserstein Distance</a:t>
                </a:r>
              </a:p>
              <a:p>
                <a:r>
                  <a:rPr lang="en-US" b="1" dirty="0"/>
                  <a:t>Purpose:</a:t>
                </a:r>
                <a:r>
                  <a:rPr lang="en-US" dirty="0"/>
                  <a:t> More discriminative alternative to bottleneck</a:t>
                </a:r>
              </a:p>
              <a:p>
                <a:r>
                  <a:rPr lang="en-US" b="1" dirty="0"/>
                  <a:t>Why you computed it:</a:t>
                </a:r>
                <a:r>
                  <a:rPr lang="en-US" dirty="0"/>
                  <a:t> Bottleneck only considers the single worst-matched point. Wasserstein (p=1 or p=2) considers </a:t>
                </a:r>
                <a:r>
                  <a:rPr lang="en-US" i="1" dirty="0"/>
                  <a:t>all</a:t>
                </a:r>
                <a:r>
                  <a:rPr lang="en-US" dirty="0"/>
                  <a:t> points, making it more sensitive to global differences. Your comparison showed Wasserstein ≥ Bottleneck in all cases. For clustering formations into types, Wasserstein may separate similar-looking diagrams that bottleneck considers identical.</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𝑝</m:t>
                          </m:r>
                        </m:sub>
                      </m:sSub>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1</m:t>
                              </m:r>
                            </m:sub>
                          </m:sSub>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2</m:t>
                              </m:r>
                            </m:sub>
                          </m:sSub>
                        </m:e>
                      </m:d>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limLow>
                                <m:limLowPr>
                                  <m:ctrlPr>
                                    <a:rPr lang="ar-AE" sz="1200" i="1" kern="1200">
                                      <a:solidFill>
                                        <a:schemeClr val="tx1"/>
                                      </a:solidFill>
                                      <a:latin typeface="Cambria Math" panose="02040503050406030204" pitchFamily="18" charset="0"/>
                                      <a:ea typeface="+mn-ea"/>
                                      <a:cs typeface="+mn-cs"/>
                                    </a:rPr>
                                  </m:ctrlPr>
                                </m:limLow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inf</m:t>
                                      </m:r>
                                    </m:fName>
                                    <m:e/>
                                  </m:func>
                                </m:e>
                                <m:lim>
                                  <m:r>
                                    <a:rPr lang="ar-AE" sz="1200" i="1" kern="1200">
                                      <a:solidFill>
                                        <a:schemeClr val="tx1"/>
                                      </a:solidFill>
                                      <a:latin typeface="Cambria Math" panose="02040503050406030204" pitchFamily="18" charset="0"/>
                                      <a:ea typeface="+mn-ea"/>
                                      <a:cs typeface="+mn-cs"/>
                                    </a:rPr>
                                    <m:t>𝛾</m:t>
                                  </m:r>
                                </m:lim>
                              </m:limLow>
                              <m:nary>
                                <m:naryPr>
                                  <m:chr m:val="∑"/>
                                  <m:grow m:val="on"/>
                                  <m:supHide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𝑥</m:t>
                                  </m:r>
                                </m:sub>
                                <m:sup/>
                                <m:e>
                                  <m:r>
                                    <a:rPr lang="ar-AE" sz="1200" i="0" kern="1200">
                                      <a:solidFill>
                                        <a:schemeClr val="tx1"/>
                                      </a:solidFill>
                                      <a:latin typeface="Cambria Math" panose="02040503050406030204" pitchFamily="18" charset="0"/>
                                      <a:ea typeface="+mn-ea"/>
                                      <a:cs typeface="+mn-cs"/>
                                    </a:rPr>
                                    <m:t>∥</m:t>
                                  </m:r>
                                </m:e>
                              </m:nary>
                              <m:r>
                                <a:rPr lang="ar-AE" sz="1200" i="1" kern="1200">
                                  <a:solidFill>
                                    <a:schemeClr val="tx1"/>
                                  </a:solidFill>
                                  <a:latin typeface="Cambria Math" panose="02040503050406030204" pitchFamily="18" charset="0"/>
                                  <a:ea typeface="+mn-ea"/>
                                  <a:cs typeface="+mn-cs"/>
                                </a:rPr>
                                <m:t>𝑥</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𝛾</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m:t>
                                  </m:r>
                                </m:e>
                                <m:sup>
                                  <m:r>
                                    <a:rPr lang="ar-AE" sz="1200" i="1" kern="1200">
                                      <a:solidFill>
                                        <a:schemeClr val="tx1"/>
                                      </a:solidFill>
                                      <a:latin typeface="Cambria Math" panose="02040503050406030204" pitchFamily="18" charset="0"/>
                                      <a:ea typeface="+mn-ea"/>
                                      <a:cs typeface="+mn-cs"/>
                                    </a:rPr>
                                    <m:t>𝑝</m:t>
                                  </m:r>
                                </m:sup>
                              </m:sSup>
                            </m:e>
                          </m:d>
                        </m:e>
                        <m:sup>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𝑝</m:t>
                          </m:r>
                        </m:sup>
                      </m:sSup>
                    </m:oMath>
                  </m:oMathPara>
                </a14:m>
                <a:endParaRPr lang="ar-AE" dirty="0"/>
              </a:p>
              <a:p>
                <a:br>
                  <a:rPr lang="ar-AE" dirty="0"/>
                </a:br>
                <a:endParaRPr lang="ar-AE" dirty="0"/>
              </a:p>
              <a:p>
                <a:r>
                  <a:rPr lang="ar-AE" b="1" dirty="0"/>
                  <a:t>6. </a:t>
                </a:r>
                <a:r>
                  <a:rPr lang="en-US" b="1" dirty="0"/>
                  <a:t>Permutation Tests</a:t>
                </a:r>
              </a:p>
              <a:p>
                <a:r>
                  <a:rPr lang="en-US" b="1" dirty="0"/>
                  <a:t>Purpose:</a:t>
                </a:r>
                <a:r>
                  <a:rPr lang="en-US" dirty="0"/>
                  <a:t> Statistical inference without distributional assumptions</a:t>
                </a:r>
              </a:p>
              <a:p>
                <a:r>
                  <a:rPr lang="en-US" b="1" dirty="0"/>
                  <a:t>Why you computed it:</a:t>
                </a:r>
                <a:r>
                  <a:rPr lang="en-US" dirty="0"/>
                  <a:t> To formally test "do complete and incomplete passes have different topological signatures?" you need hypothesis testing. But persistence diagrams don't follow known distributions. Permutation tests shuffle outcome labels and recompute test statistics to build an empirical null distribution. Your result (p = 0.27) suggested no significant difference in diagram-level tests, while feature-level t-tests (p = 0.005) found significance — highlighting that </a:t>
                </a:r>
                <a:r>
                  <a:rPr lang="en-US" i="1" dirty="0"/>
                  <a:t>how</a:t>
                </a:r>
                <a:r>
                  <a:rPr lang="en-US" dirty="0"/>
                  <a:t> you summarize diagrams matters.</a:t>
                </a:r>
              </a:p>
              <a:p>
                <a:br>
                  <a:rPr lang="en-US" dirty="0"/>
                </a:br>
                <a:endParaRPr lang="en-US" dirty="0"/>
              </a:p>
              <a:p>
                <a:r>
                  <a:rPr lang="en-US" b="1" dirty="0"/>
                  <a:t>7. Mapper Algorithm</a:t>
                </a:r>
              </a:p>
              <a:p>
                <a:r>
                  <a:rPr lang="en-US" b="1" dirty="0"/>
                  <a:t>Purpose:</a:t>
                </a:r>
                <a:r>
                  <a:rPr lang="en-US" dirty="0"/>
                  <a:t> Visualize high-dimensional data structure as a graph</a:t>
                </a:r>
              </a:p>
              <a:p>
                <a:r>
                  <a:rPr lang="en-US" b="1" dirty="0"/>
                  <a:t>Why you computed it:</a:t>
                </a:r>
                <a:r>
                  <a:rPr lang="en-US" dirty="0"/>
                  <a:t> Mapper approximates the Reeb graph — it shows how your formation space is "shaped" by clustering at overlapping intervals of a filter function. You hoped to find distinct nodes corresponding to different coverage types (zone vs man, blitz vs coverage). Your result (1 node, 0 edges) suggests the formations are topologically homogeneous at the parameters chosen, or the filter function wasn't discriminative enough. This is a null result but still informative.</a:t>
                </a:r>
              </a:p>
              <a:p>
                <a:br>
                  <a:rPr lang="en-US" dirty="0"/>
                </a:br>
                <a:endParaRPr lang="en-US" dirty="0"/>
              </a:p>
              <a:p>
                <a:r>
                  <a:rPr lang="en-US" b="1" dirty="0"/>
                  <a:t>8. Hierarchical Clustering</a:t>
                </a:r>
              </a:p>
              <a:p>
                <a:r>
                  <a:rPr lang="en-US" b="1" dirty="0"/>
                  <a:t>Purpose:</a:t>
                </a:r>
                <a:r>
                  <a:rPr lang="en-US" dirty="0"/>
                  <a:t> Find natural groupings of formations by topological similarity</a:t>
                </a:r>
              </a:p>
              <a:p>
                <a:r>
                  <a:rPr lang="en-US" b="1" dirty="0"/>
                  <a:t>Why you computed it:</a:t>
                </a:r>
                <a:r>
                  <a:rPr lang="en-US" dirty="0"/>
                  <a:t> Using bottleneck distances as input to hierarchical clustering reveals whether distinct "types" of defensive formations exist. Your dendrogram (Image 9) shows most formations cluster tightly (low merge heights) with a few outliers merging at 2-4 yards. This suggests a continuum of coverage structures rather than discrete archetypes — or that H₁ alone doesn't separate zone/man cleanly (until you did the explicit clustering in your Zone vs Man analysis).</a:t>
                </a:r>
              </a:p>
              <a:p>
                <a:br>
                  <a:rPr lang="en-US" dirty="0"/>
                </a:br>
                <a:endParaRPr lang="en-US" dirty="0"/>
              </a:p>
              <a:p>
                <a:r>
                  <a:rPr lang="en-US" b="1" dirty="0"/>
                  <a:t>9. MDS Visualization</a:t>
                </a:r>
              </a:p>
              <a:p>
                <a:r>
                  <a:rPr lang="en-US" b="1" dirty="0"/>
                  <a:t>Purpose:</a:t>
                </a:r>
                <a:r>
                  <a:rPr lang="en-US" dirty="0"/>
                  <a:t> 2D embedding preserving pairwise topological distances</a:t>
                </a:r>
              </a:p>
              <a:p>
                <a:r>
                  <a:rPr lang="en-US" b="1" dirty="0"/>
                  <a:t>Why you computed it:</a:t>
                </a:r>
                <a:r>
                  <a:rPr lang="en-US" dirty="0"/>
                  <a:t> To </a:t>
                </a:r>
                <a:r>
                  <a:rPr lang="en-US" i="1" dirty="0"/>
                  <a:t>see</a:t>
                </a:r>
                <a:r>
                  <a:rPr lang="en-US" dirty="0"/>
                  <a:t> the formation space. MDS projects the 100×100 bottleneck distance matrix into 2D while preserving distances as well as possible (stress = 39.24). Your plot (Image 10) shows partial separation of complete (green) vs incomplete (red) passes, with outliers representing topologically unusual formations. This gives geometric intuition about where different outcomes live in "topology space."</a:t>
                </a:r>
              </a:p>
              <a:p>
                <a:br>
                  <a:rPr lang="en-US" dirty="0"/>
                </a:br>
                <a:endParaRPr lang="en-US" dirty="0"/>
              </a:p>
              <a:p>
                <a:r>
                  <a:rPr lang="en-US" b="1" dirty="0"/>
                  <a:t>Temporal Analysis</a:t>
                </a:r>
              </a:p>
              <a:p>
                <a:r>
                  <a:rPr lang="en-US" b="1" dirty="0"/>
                  <a:t>10. Gap Evolution (H₁ over time)</a:t>
                </a:r>
              </a:p>
              <a:p>
                <a:r>
                  <a:rPr lang="en-US" b="1" dirty="0"/>
                  <a:t>Purpose:</a:t>
                </a:r>
                <a:r>
                  <a:rPr lang="en-US" dirty="0"/>
                  <a:t> Capture how coverage structure changes during a play</a:t>
                </a:r>
              </a:p>
              <a:p>
                <a:r>
                  <a:rPr lang="en-US" b="1" dirty="0"/>
                  <a:t>Why you computed it:</a:t>
                </a:r>
                <a:r>
                  <a:rPr lang="en-US" dirty="0"/>
                  <a:t> Static analysis only looks at one frame (ball release). But coverage gaps </a:t>
                </a:r>
                <a:r>
                  <a:rPr lang="en-US" i="1" dirty="0"/>
                  <a:t>evolve</a:t>
                </a:r>
                <a:r>
                  <a:rPr lang="en-US" dirty="0"/>
                  <a:t> — they may not exist at the snap but open as defenders react to routes. Your finding that H₁ decreases from snap to pass (0.83 → 0.40) shows defenses actively close holes. Complete passes maintaining larger gaps throughout suggests QBs exploit gaps that persist under defensive pressure.</a:t>
                </a:r>
              </a:p>
              <a:p>
                <a:br>
                  <a:rPr lang="en-US" dirty="0"/>
                </a:br>
                <a:endParaRPr lang="en-US" dirty="0"/>
              </a:p>
              <a:p>
                <a:r>
                  <a:rPr lang="en-US" b="1" dirty="0"/>
                  <a:t>11. Disguise Metric (Bottleneck </a:t>
                </a:r>
                <a:r>
                  <a:rPr lang="en-US" b="1" dirty="0" err="1"/>
                  <a:t>snap→pass</a:t>
                </a:r>
                <a:r>
                  <a:rPr lang="en-US" b="1" dirty="0"/>
                  <a:t>)</a:t>
                </a:r>
              </a:p>
              <a:p>
                <a:r>
                  <a:rPr lang="en-US" b="1" dirty="0"/>
                  <a:t>Purpose:</a:t>
                </a:r>
                <a:r>
                  <a:rPr lang="en-US" dirty="0"/>
                  <a:t> Quantify how much topology changes during a play</a:t>
                </a:r>
              </a:p>
              <a:p>
                <a:r>
                  <a:rPr lang="en-US" b="1" dirty="0"/>
                  <a:t>Why you computed it:</a:t>
                </a:r>
                <a:r>
                  <a:rPr lang="en-US" dirty="0"/>
                  <a:t> If a defense "disguises" coverage (shows zone, rotates to man), the topological structure should change significantly. You defined:</a:t>
                </a:r>
              </a:p>
              <a:p>
                <a:pPr/>
                <a14:m>
                  <m:oMathPara xmlns:m="http://schemas.openxmlformats.org/officeDocument/2006/math">
                    <m:oMathParaPr>
                      <m:jc m:val="centerGroup"/>
                    </m:oMathParaPr>
                    <m:oMath xmlns:m="http://schemas.openxmlformats.org/officeDocument/2006/math">
                      <m:r>
                        <m:rPr>
                          <m:nor/>
                        </m:rPr>
                        <a:rPr lang="en-US" b="0"/>
                        <m:t>Disguise</m:t>
                      </m:r>
                      <m:r>
                        <a:rPr lang="en-US" sz="1200" b="0" i="0" kern="1200">
                          <a:solidFill>
                            <a:schemeClr val="tx1"/>
                          </a:solidFill>
                          <a:latin typeface="Cambria Math" panose="02040503050406030204" pitchFamily="18" charset="0"/>
                          <a:ea typeface="+mn-ea"/>
                          <a:cs typeface="+mn-cs"/>
                        </a:rPr>
                        <m:t>=</m:t>
                      </m:r>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𝑑</m:t>
                          </m:r>
                        </m:e>
                        <m:sub>
                          <m:r>
                            <a:rPr lang="ar-AE" sz="1200" b="0" i="1" kern="1200">
                              <a:solidFill>
                                <a:schemeClr val="tx1"/>
                              </a:solidFill>
                              <a:latin typeface="Cambria Math" panose="02040503050406030204" pitchFamily="18" charset="0"/>
                              <a:ea typeface="+mn-ea"/>
                              <a:cs typeface="+mn-cs"/>
                            </a:rPr>
                            <m:t>𝐵</m:t>
                          </m:r>
                        </m:sub>
                      </m:sSub>
                      <m:d>
                        <m:dPr>
                          <m:sepChr m:val=","/>
                          <m:ctrlPr>
                            <a:rPr lang="ar-AE" sz="1200" b="0" i="1" kern="1200">
                              <a:solidFill>
                                <a:schemeClr val="tx1"/>
                              </a:solidFill>
                              <a:latin typeface="Cambria Math" panose="02040503050406030204" pitchFamily="18" charset="0"/>
                              <a:ea typeface="+mn-ea"/>
                              <a:cs typeface="+mn-cs"/>
                            </a:rPr>
                          </m:ctrlPr>
                        </m:dPr>
                        <m:e>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𝐷</m:t>
                              </m:r>
                            </m:e>
                            <m:sub>
                              <m:r>
                                <m:rPr>
                                  <m:nor/>
                                </m:rPr>
                                <a:rPr lang="en-US" sz="1200" b="0" i="1" kern="1200">
                                  <a:solidFill>
                                    <a:schemeClr val="tx1"/>
                                  </a:solidFill>
                                  <a:latin typeface="+mn-lt"/>
                                  <a:ea typeface="+mn-ea"/>
                                  <a:cs typeface="+mn-cs"/>
                                </a:rPr>
                                <m:t>snap</m:t>
                              </m:r>
                            </m:sub>
                          </m:sSub>
                        </m:e>
                        <m:e>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𝐷</m:t>
                              </m:r>
                            </m:e>
                            <m:sub>
                              <m:r>
                                <m:rPr>
                                  <m:nor/>
                                </m:rPr>
                                <a:rPr lang="en-US" sz="1200" b="0" i="1" kern="1200">
                                  <a:solidFill>
                                    <a:schemeClr val="tx1"/>
                                  </a:solidFill>
                                  <a:latin typeface="+mn-lt"/>
                                  <a:ea typeface="+mn-ea"/>
                                  <a:cs typeface="+mn-cs"/>
                                </a:rPr>
                                <m:t>pass</m:t>
                              </m:r>
                            </m:sub>
                          </m:sSub>
                        </m:e>
                      </m:d>
                    </m:oMath>
                  </m:oMathPara>
                </a14:m>
                <a:endParaRPr lang="ar-AE" b="0" dirty="0"/>
              </a:p>
              <a:p>
                <a:r>
                  <a:rPr lang="en-US" dirty="0"/>
                  <a:t>Your finding that incomplete passes have </a:t>
                </a:r>
                <a:r>
                  <a:rPr lang="en-US" i="1" dirty="0"/>
                  <a:t>higher</a:t>
                </a:r>
                <a:r>
                  <a:rPr lang="en-US" dirty="0"/>
                  <a:t> disguise (5.44 vs 4.58, p &lt; 0.001) suggests defensive deception correlates with stopping passes — the coverage the QB read pre-snap wasn't what he faced at release.</a:t>
                </a:r>
              </a:p>
              <a:p>
                <a:br>
                  <a:rPr lang="en-US" dirty="0"/>
                </a:br>
                <a:endParaRPr lang="en-US" dirty="0"/>
              </a:p>
              <a:p>
                <a:r>
                  <a:rPr lang="en-US" b="1" dirty="0"/>
                  <a:t>12. Time-to-Gap</a:t>
                </a:r>
              </a:p>
              <a:p>
                <a:r>
                  <a:rPr lang="en-US" b="1" dirty="0"/>
                  <a:t>Purpose:</a:t>
                </a:r>
                <a:r>
                  <a:rPr lang="en-US" dirty="0"/>
                  <a:t> Identify </a:t>
                </a:r>
                <a:r>
                  <a:rPr lang="en-US" i="1" dirty="0"/>
                  <a:t>when</a:t>
                </a:r>
                <a:r>
                  <a:rPr lang="en-US" dirty="0"/>
                  <a:t> coverage breaks down</a:t>
                </a:r>
              </a:p>
              <a:p>
                <a:r>
                  <a:rPr lang="en-US" b="1" dirty="0"/>
                  <a:t>Why you computed it:</a:t>
                </a:r>
                <a:r>
                  <a:rPr lang="en-US" dirty="0"/>
                  <a:t> For play design, knowing that gaps form immediately (completions: median 0.0s) vs delayed (incompletions: median 0.4s) has tactical implications. Quick-forming gaps favor timing routes; late gaps require longer-developing plays. This connects topology to football strategy.</a:t>
                </a:r>
              </a:p>
              <a:p>
                <a:br>
                  <a:rPr lang="en-US" dirty="0"/>
                </a:br>
                <a:endParaRPr lang="en-US" dirty="0"/>
              </a:p>
              <a:p>
                <a:r>
                  <a:rPr lang="en-US" b="1" dirty="0"/>
                  <a:t>13. Betti Surfaces </a:t>
                </a:r>
                <a:r>
                  <a:rPr lang="el-GR" b="1" dirty="0"/>
                  <a:t>β₁(</a:t>
                </a:r>
                <a:r>
                  <a:rPr lang="en-US" b="1" dirty="0"/>
                  <a:t>scale, time)</a:t>
                </a:r>
              </a:p>
              <a:p>
                <a:r>
                  <a:rPr lang="en-US" b="1" dirty="0"/>
                  <a:t>Purpose:</a:t>
                </a:r>
                <a:r>
                  <a:rPr lang="en-US" dirty="0"/>
                  <a:t> Joint distribution of gaps across scale AND time</a:t>
                </a:r>
              </a:p>
              <a:p>
                <a:r>
                  <a:rPr lang="en-US" b="1" dirty="0"/>
                  <a:t>Why you computed it:</a:t>
                </a:r>
                <a:r>
                  <a:rPr lang="en-US" dirty="0"/>
                  <a:t> This is your most sophisticated temporal analysis. The heatmap shows gaps emerge most at ~9-11 yards, around 0.8-1.6s post-snap. The difference plot (complete - incomplete) reveals exactly where in (scale, time) space completions differ — giving coaches actionable insight about which routes at which depths exploit coverage vulnerabilities.</a:t>
                </a:r>
              </a:p>
              <a:p>
                <a:endParaRPr lang="en-US" dirty="0"/>
              </a:p>
            </p:txBody>
          </p:sp>
        </mc:Choice>
        <mc:Fallback xmlns="">
          <p:sp>
            <p:nvSpPr>
              <p:cNvPr id="3" name="Notes Placeholder 2"/>
              <p:cNvSpPr>
                <a:spLocks noGrp="1"/>
              </p:cNvSpPr>
              <p:nvPr>
                <p:ph type="body" idx="1"/>
              </p:nvPr>
            </p:nvSpPr>
            <p:spPr/>
            <p:txBody>
              <a:bodyPr/>
              <a:lstStyle/>
              <a:p>
                <a:r>
                  <a:rPr lang="en-US" dirty="0"/>
                  <a:t>Persistence Diagrams: “What gaps exist in this formation?”</a:t>
                </a:r>
                <a:br>
                  <a:rPr lang="en-US" dirty="0"/>
                </a:br>
                <a:r>
                  <a:rPr lang="en-US" dirty="0"/>
                  <a:t>Landscapes/Images: “How do I average/vectorize diagrams for stats/ML?”</a:t>
                </a:r>
                <a:br>
                  <a:rPr lang="en-US" dirty="0"/>
                </a:br>
                <a:r>
                  <a:rPr lang="en-US" dirty="0"/>
                  <a:t>Betti Curves: “At what scale do gaps appear?”</a:t>
                </a:r>
                <a:br>
                  <a:rPr lang="en-US" dirty="0"/>
                </a:br>
                <a:r>
                  <a:rPr lang="en-US" dirty="0"/>
                  <a:t>Bottleneck/Wasserstein: “How similar are two formations topologically?”</a:t>
                </a:r>
              </a:p>
              <a:p>
                <a:r>
                  <a:rPr lang="en-US" dirty="0"/>
                  <a:t>Permutation Tests: “Is the difference statistically significant?”</a:t>
                </a:r>
                <a:br>
                  <a:rPr lang="en-US" dirty="0"/>
                </a:br>
                <a:r>
                  <a:rPr lang="en-US" dirty="0"/>
                  <a:t>Mapper: “What is the global shape of formation space?”</a:t>
                </a:r>
                <a:br>
                  <a:rPr lang="en-US" dirty="0"/>
                </a:br>
                <a:r>
                  <a:rPr lang="en-US" dirty="0"/>
                  <a:t>Clustering/MDS: “Are there natural formation types? Can I visualize?”</a:t>
                </a:r>
                <a:br>
                  <a:rPr lang="en-US" dirty="0"/>
                </a:br>
                <a:r>
                  <a:rPr lang="en-US" dirty="0"/>
                  <a:t>Temporal H1: “How do gaps evolve during a play?”</a:t>
                </a:r>
                <a:br>
                  <a:rPr lang="en-US" dirty="0"/>
                </a:br>
                <a:r>
                  <a:rPr lang="en-US" dirty="0"/>
                  <a:t>Disguise Metric: “Did the defense change structure mid-play?”</a:t>
                </a:r>
                <a:br>
                  <a:rPr lang="en-US" dirty="0"/>
                </a:br>
                <a:r>
                  <a:rPr lang="en-US" dirty="0"/>
                  <a:t>Betti Surfaces: “where and when are defenses most vulnerable?”</a:t>
                </a:r>
              </a:p>
              <a:p>
                <a:endParaRPr lang="en-US" dirty="0"/>
              </a:p>
              <a:p>
                <a:endParaRPr lang="en-US" dirty="0"/>
              </a:p>
              <a:p>
                <a:endParaRPr lang="en-US" dirty="0"/>
              </a:p>
              <a:p>
                <a:r>
                  <a:rPr lang="en-US" b="1" dirty="0"/>
                  <a:t>Static TDA Techniques</a:t>
                </a:r>
              </a:p>
              <a:p>
                <a:r>
                  <a:rPr lang="en-US" b="1" dirty="0"/>
                  <a:t>1. Persistence Landscapes</a:t>
                </a:r>
              </a:p>
              <a:p>
                <a:r>
                  <a:rPr lang="en-US" b="1" dirty="0"/>
                  <a:t>Purpose:</a:t>
                </a:r>
                <a:r>
                  <a:rPr lang="en-US" dirty="0"/>
                  <a:t> Enable statistical comparison between groups</a:t>
                </a:r>
              </a:p>
              <a:p>
                <a:r>
                  <a:rPr lang="en-US" b="1" dirty="0"/>
                  <a:t>Why you computed it:</a:t>
                </a:r>
                <a:r>
                  <a:rPr lang="en-US" dirty="0"/>
                  <a:t> Raw persistence diagrams can't be averaged (they're multisets of varying cardinality). Landscapes map diagrams to a Banach space where you can compute means, variances, and confidence bands. This lets you ask: "Is the </a:t>
                </a:r>
                <a:r>
                  <a:rPr lang="en-US" i="1" dirty="0"/>
                  <a:t>average</a:t>
                </a:r>
                <a:r>
                  <a:rPr lang="en-US" dirty="0"/>
                  <a:t> topological signature of complete passes different from incomplete passes?" Your landscape plot (Image 4) showed incomplete passes have higher mean </a:t>
                </a:r>
                <a:r>
                  <a:rPr lang="el-GR" dirty="0"/>
                  <a:t>λ₁(</a:t>
                </a:r>
                <a:r>
                  <a:rPr lang="en-US" dirty="0"/>
                  <a:t>t), quantifying the group difference functionally.</a:t>
                </a:r>
              </a:p>
              <a:p>
                <a:br>
                  <a:rPr lang="en-US" dirty="0"/>
                </a:br>
                <a:endParaRPr lang="en-US" dirty="0"/>
              </a:p>
              <a:p>
                <a:r>
                  <a:rPr lang="en-US" b="1" dirty="0"/>
                  <a:t>2. Persistence Images</a:t>
                </a:r>
              </a:p>
              <a:p>
                <a:r>
                  <a:rPr lang="en-US" b="1" dirty="0"/>
                  <a:t>Purpose:</a:t>
                </a:r>
                <a:r>
                  <a:rPr lang="en-US" dirty="0"/>
                  <a:t> Fixed-dimensional vectorization for ML pipelines</a:t>
                </a:r>
              </a:p>
              <a:p>
                <a:r>
                  <a:rPr lang="en-US" b="1" dirty="0"/>
                  <a:t>Why you computed it:</a:t>
                </a:r>
                <a:r>
                  <a:rPr lang="en-US" dirty="0"/>
                  <a:t> If you wanted to feed topological features into a classifier (e.g., logistic regression predicting completion), you need fixed-size vectors. Persistence images discretize the birth-death plane into a grid, weight by persistence, and smooth with a Gaussian. Your 3-panel image (Large Gap / Small Gap / No Gaps) shows how different coverage patterns produce visually distinct "fingerprints." This enables downstream classification or clustering with standard ML tools.</a:t>
                </a:r>
              </a:p>
              <a:p>
                <a:br>
                  <a:rPr lang="en-US" dirty="0"/>
                </a:br>
                <a:endParaRPr lang="en-US" dirty="0"/>
              </a:p>
              <a:p>
                <a:r>
                  <a:rPr lang="en-US" b="1" dirty="0"/>
                  <a:t>3. Betti Curves</a:t>
                </a:r>
              </a:p>
              <a:p>
                <a:r>
                  <a:rPr lang="en-US" b="1" dirty="0"/>
                  <a:t>Purpose:</a:t>
                </a:r>
                <a:r>
                  <a:rPr lang="en-US" dirty="0"/>
                  <a:t> Track feature counts across all filtration scales</a:t>
                </a:r>
              </a:p>
              <a:p>
                <a:r>
                  <a:rPr lang="en-US" b="1" dirty="0"/>
                  <a:t>Why you computed it:</a:t>
                </a:r>
                <a:r>
                  <a:rPr lang="en-US" dirty="0"/>
                  <a:t> </a:t>
                </a:r>
                <a:r>
                  <a:rPr lang="el-GR" dirty="0"/>
                  <a:t>β₀(ε) </a:t>
                </a:r>
                <a:r>
                  <a:rPr lang="en-US" dirty="0"/>
                  <a:t>tells you "how many defender clusters exist at scale </a:t>
                </a:r>
                <a:r>
                  <a:rPr lang="el-GR" dirty="0"/>
                  <a:t>ε" </a:t>
                </a:r>
                <a:r>
                  <a:rPr lang="en-US" dirty="0"/>
                  <a:t>and </a:t>
                </a:r>
                <a:r>
                  <a:rPr lang="el-GR" dirty="0"/>
                  <a:t>β₁(ε) </a:t>
                </a:r>
                <a:r>
                  <a:rPr lang="en-US" dirty="0"/>
                  <a:t>tells you "how many coverage holes exist at scale </a:t>
                </a:r>
                <a:r>
                  <a:rPr lang="el-GR" dirty="0"/>
                  <a:t>ε." </a:t>
                </a:r>
                <a:r>
                  <a:rPr lang="en-US" dirty="0"/>
                  <a:t>Your Betti curve plot (Image 6) shows </a:t>
                </a:r>
                <a:r>
                  <a:rPr lang="el-GR" dirty="0"/>
                  <a:t>β₀ </a:t>
                </a:r>
                <a:r>
                  <a:rPr lang="en-US" dirty="0"/>
                  <a:t>starting at 6 (isolated defenders) and decreasing as clusters merge, while </a:t>
                </a:r>
                <a:r>
                  <a:rPr lang="el-GR" dirty="0"/>
                  <a:t>β₁ = 1 </a:t>
                </a:r>
                <a:r>
                  <a:rPr lang="en-US" dirty="0"/>
                  <a:t>for </a:t>
                </a:r>
                <a:r>
                  <a:rPr lang="el-GR" dirty="0"/>
                  <a:t>ε ∈ [8.75, 10.5] </a:t>
                </a:r>
                <a:r>
                  <a:rPr lang="en-US" dirty="0"/>
                  <a:t>yards — precisely localizing where the coverage gap lives in scale-space. This gives interpretable, scale-specific information beyond summary statistics.</a:t>
                </a:r>
              </a:p>
              <a:p>
                <a:br>
                  <a:rPr lang="en-US" dirty="0"/>
                </a:br>
                <a:endParaRPr lang="en-US" dirty="0"/>
              </a:p>
              <a:p>
                <a:r>
                  <a:rPr lang="en-US" b="1" dirty="0"/>
                  <a:t>4. Bottleneck Distance</a:t>
                </a:r>
              </a:p>
              <a:p>
                <a:r>
                  <a:rPr lang="en-US" b="1" dirty="0"/>
                  <a:t>Purpose:</a:t>
                </a:r>
                <a:r>
                  <a:rPr lang="en-US" dirty="0"/>
                  <a:t> Principled metric on persistence diagrams with stability guarantees</a:t>
                </a:r>
              </a:p>
              <a:p>
                <a:r>
                  <a:rPr lang="en-US" b="1" dirty="0"/>
                  <a:t>Why you computed it:</a:t>
                </a:r>
                <a:r>
                  <a:rPr lang="en-US" dirty="0"/>
                  <a:t> To compare </a:t>
                </a:r>
                <a:r>
                  <a:rPr lang="en-US" i="1" dirty="0"/>
                  <a:t>individual</a:t>
                </a:r>
                <a:r>
                  <a:rPr lang="en-US" dirty="0"/>
                  <a:t> formations, you need a distance function. Bottleneck distance satisfies the </a:t>
                </a:r>
                <a:r>
                  <a:rPr lang="en-US" b="1" dirty="0"/>
                  <a:t>stability theorem</a:t>
                </a:r>
                <a:r>
                  <a:rPr lang="en-US" dirty="0"/>
                  <a:t>: if point clouds are perturbed by at most </a:t>
                </a:r>
                <a:r>
                  <a:rPr lang="el-GR" dirty="0"/>
                  <a:t>δ, </a:t>
                </a:r>
                <a:r>
                  <a:rPr lang="en-US" dirty="0"/>
                  <a:t>their diagrams move by at most </a:t>
                </a:r>
                <a:r>
                  <a:rPr lang="el-GR" dirty="0"/>
                  <a:t>δ </a:t>
                </a:r>
                <a:r>
                  <a:rPr lang="en-US" dirty="0"/>
                  <a:t>in bottleneck distance. This means your comparisons are robust to noise (player tracking error, slight positional shifts). Your distance matrix (Image 7) uses this to find which plays have similar/different topological structure.</a:t>
                </a:r>
              </a:p>
              <a:p>
                <a:r>
                  <a:rPr lang="ar-AE" sz="1200" i="0" kern="1200">
                    <a:solidFill>
                      <a:schemeClr val="tx1"/>
                    </a:solidFill>
                    <a:latin typeface="+mn-lt"/>
                    <a:ea typeface="+mn-ea"/>
                    <a:cs typeface="+mn-cs"/>
                  </a:rPr>
                  <a:t>𝑑_𝐵 (𝐷_1ⓜ,𝐷_2 )=(</a:t>
                </a:r>
                <a:r>
                  <a:rPr lang="en-US" sz="1200" i="0" kern="1200">
                    <a:solidFill>
                      <a:schemeClr val="tx1"/>
                    </a:solidFill>
                    <a:latin typeface="+mn-lt"/>
                    <a:ea typeface="+mn-ea"/>
                    <a:cs typeface="+mn-cs"/>
                  </a:rPr>
                  <a:t>inf</a:t>
                </a:r>
                <a:r>
                  <a:rPr lang="ar-AE" sz="1200" i="0" kern="1200">
                    <a:solidFill>
                      <a:schemeClr val="tx1"/>
                    </a:solidFill>
                    <a:latin typeface="+mn-lt"/>
                    <a:ea typeface="+mn-ea"/>
                    <a:cs typeface="+mn-cs"/>
                  </a:rPr>
                  <a:t>⁡ )┬𝛾  (</a:t>
                </a:r>
                <a:r>
                  <a:rPr lang="en-US" sz="1200" i="0" kern="1200">
                    <a:solidFill>
                      <a:schemeClr val="tx1"/>
                    </a:solidFill>
                    <a:latin typeface="+mn-lt"/>
                    <a:ea typeface="+mn-ea"/>
                    <a:cs typeface="+mn-cs"/>
                  </a:rPr>
                  <a:t> sup</a:t>
                </a:r>
                <a:r>
                  <a:rPr lang="ar-AE" sz="1200" i="0" kern="1200">
                    <a:solidFill>
                      <a:schemeClr val="tx1"/>
                    </a:solidFill>
                    <a:latin typeface="+mn-lt"/>
                    <a:ea typeface="+mn-ea"/>
                    <a:cs typeface="+mn-cs"/>
                  </a:rPr>
                  <a:t>⁡ )┬𝑥∥𝑥−𝛾(𝑥) ∥_∞</a:t>
                </a:r>
                <a:endParaRPr lang="ar-AE" dirty="0"/>
              </a:p>
              <a:p>
                <a:br>
                  <a:rPr lang="ar-AE" dirty="0"/>
                </a:br>
                <a:endParaRPr lang="ar-AE" dirty="0"/>
              </a:p>
              <a:p>
                <a:r>
                  <a:rPr lang="ar-AE" b="1" dirty="0"/>
                  <a:t>5. </a:t>
                </a:r>
                <a:r>
                  <a:rPr lang="en-US" b="1" dirty="0"/>
                  <a:t>Wasserstein Distance</a:t>
                </a:r>
              </a:p>
              <a:p>
                <a:r>
                  <a:rPr lang="en-US" b="1" dirty="0"/>
                  <a:t>Purpose:</a:t>
                </a:r>
                <a:r>
                  <a:rPr lang="en-US" dirty="0"/>
                  <a:t> More discriminative alternative to bottleneck</a:t>
                </a:r>
              </a:p>
              <a:p>
                <a:r>
                  <a:rPr lang="en-US" b="1" dirty="0"/>
                  <a:t>Why you computed it:</a:t>
                </a:r>
                <a:r>
                  <a:rPr lang="en-US" dirty="0"/>
                  <a:t> Bottleneck only considers the single worst-matched point. Wasserstein (p=1 or p=2) considers </a:t>
                </a:r>
                <a:r>
                  <a:rPr lang="en-US" i="1" dirty="0"/>
                  <a:t>all</a:t>
                </a:r>
                <a:r>
                  <a:rPr lang="en-US" dirty="0"/>
                  <a:t> points, making it more sensitive to global differences. Your comparison showed Wasserstein ≥ Bottleneck in all cases. For clustering formations into types, Wasserstein may separate similar-looking diagrams that bottleneck considers identical.</a:t>
                </a:r>
              </a:p>
              <a:p>
                <a:r>
                  <a:rPr lang="ar-AE" sz="1200" i="0" kern="1200">
                    <a:solidFill>
                      <a:schemeClr val="tx1"/>
                    </a:solidFill>
                    <a:latin typeface="+mn-lt"/>
                    <a:ea typeface="+mn-ea"/>
                    <a:cs typeface="+mn-cs"/>
                  </a:rPr>
                  <a:t>𝑊_𝑝 (𝐷_1ⓜ,𝐷_2 )=((</a:t>
                </a:r>
                <a:r>
                  <a:rPr lang="en-US" sz="1200" i="0" kern="1200">
                    <a:solidFill>
                      <a:schemeClr val="tx1"/>
                    </a:solidFill>
                    <a:latin typeface="+mn-lt"/>
                    <a:ea typeface="+mn-ea"/>
                    <a:cs typeface="+mn-cs"/>
                  </a:rPr>
                  <a:t>inf</a:t>
                </a:r>
                <a:r>
                  <a:rPr lang="ar-AE" sz="1200" i="0" kern="1200">
                    <a:solidFill>
                      <a:schemeClr val="tx1"/>
                    </a:solidFill>
                    <a:latin typeface="+mn-lt"/>
                    <a:ea typeface="+mn-ea"/>
                    <a:cs typeface="+mn-cs"/>
                  </a:rPr>
                  <a:t>⁡ )┬𝛾 ∑128_𝑥▒∥ 𝑥−𝛾(𝑥) ∥^𝑝 )^(1/𝑝)</a:t>
                </a:r>
                <a:endParaRPr lang="ar-AE" dirty="0"/>
              </a:p>
              <a:p>
                <a:br>
                  <a:rPr lang="ar-AE" dirty="0"/>
                </a:br>
                <a:endParaRPr lang="ar-AE" dirty="0"/>
              </a:p>
              <a:p>
                <a:r>
                  <a:rPr lang="ar-AE" b="1" dirty="0"/>
                  <a:t>6. </a:t>
                </a:r>
                <a:r>
                  <a:rPr lang="en-US" b="1" dirty="0"/>
                  <a:t>Permutation Tests</a:t>
                </a:r>
              </a:p>
              <a:p>
                <a:r>
                  <a:rPr lang="en-US" b="1" dirty="0"/>
                  <a:t>Purpose:</a:t>
                </a:r>
                <a:r>
                  <a:rPr lang="en-US" dirty="0"/>
                  <a:t> Statistical inference without distributional assumptions</a:t>
                </a:r>
              </a:p>
              <a:p>
                <a:r>
                  <a:rPr lang="en-US" b="1" dirty="0"/>
                  <a:t>Why you computed it:</a:t>
                </a:r>
                <a:r>
                  <a:rPr lang="en-US" dirty="0"/>
                  <a:t> To formally test "do complete and incomplete passes have different topological signatures?" you need hypothesis testing. But persistence diagrams don't follow known distributions. Permutation tests shuffle outcome labels and recompute test statistics to build an empirical null distribution. Your result (p = 0.27) suggested no significant difference in diagram-level tests, while feature-level t-tests (p = 0.005) found significance — highlighting that </a:t>
                </a:r>
                <a:r>
                  <a:rPr lang="en-US" i="1" dirty="0"/>
                  <a:t>how</a:t>
                </a:r>
                <a:r>
                  <a:rPr lang="en-US" dirty="0"/>
                  <a:t> you summarize diagrams matters.</a:t>
                </a:r>
              </a:p>
              <a:p>
                <a:br>
                  <a:rPr lang="en-US" dirty="0"/>
                </a:br>
                <a:endParaRPr lang="en-US" dirty="0"/>
              </a:p>
              <a:p>
                <a:r>
                  <a:rPr lang="en-US" b="1" dirty="0"/>
                  <a:t>7. Mapper Algorithm</a:t>
                </a:r>
              </a:p>
              <a:p>
                <a:r>
                  <a:rPr lang="en-US" b="1" dirty="0"/>
                  <a:t>Purpose:</a:t>
                </a:r>
                <a:r>
                  <a:rPr lang="en-US" dirty="0"/>
                  <a:t> Visualize high-dimensional data structure as a graph</a:t>
                </a:r>
              </a:p>
              <a:p>
                <a:r>
                  <a:rPr lang="en-US" b="1" dirty="0"/>
                  <a:t>Why you computed it:</a:t>
                </a:r>
                <a:r>
                  <a:rPr lang="en-US" dirty="0"/>
                  <a:t> Mapper approximates the Reeb graph — it shows how your formation space is "shaped" by clustering at overlapping intervals of a filter function. You hoped to find distinct nodes corresponding to different coverage types (zone vs man, blitz vs coverage). Your result (1 node, 0 edges) suggests the formations are topologically homogeneous at the parameters chosen, or the filter function wasn't discriminative enough. This is a null result but still informative.</a:t>
                </a:r>
              </a:p>
              <a:p>
                <a:br>
                  <a:rPr lang="en-US" dirty="0"/>
                </a:br>
                <a:endParaRPr lang="en-US" dirty="0"/>
              </a:p>
              <a:p>
                <a:r>
                  <a:rPr lang="en-US" b="1" dirty="0"/>
                  <a:t>8. Hierarchical Clustering</a:t>
                </a:r>
              </a:p>
              <a:p>
                <a:r>
                  <a:rPr lang="en-US" b="1" dirty="0"/>
                  <a:t>Purpose:</a:t>
                </a:r>
                <a:r>
                  <a:rPr lang="en-US" dirty="0"/>
                  <a:t> Find natural groupings of formations by topological similarity</a:t>
                </a:r>
              </a:p>
              <a:p>
                <a:r>
                  <a:rPr lang="en-US" b="1" dirty="0"/>
                  <a:t>Why you computed it:</a:t>
                </a:r>
                <a:r>
                  <a:rPr lang="en-US" dirty="0"/>
                  <a:t> Using bottleneck distances as input to hierarchical clustering reveals whether distinct "types" of defensive formations exist. Your dendrogram (Image 9) shows most formations cluster tightly (low merge heights) with a few outliers merging at 2-4 yards. This suggests a continuum of coverage structures rather than discrete archetypes — or that H₁ alone doesn't separate zone/man cleanly (until you did the explicit clustering in your Zone vs Man analysis).</a:t>
                </a:r>
              </a:p>
              <a:p>
                <a:br>
                  <a:rPr lang="en-US" dirty="0"/>
                </a:br>
                <a:endParaRPr lang="en-US" dirty="0"/>
              </a:p>
              <a:p>
                <a:r>
                  <a:rPr lang="en-US" b="1" dirty="0"/>
                  <a:t>9. MDS Visualization</a:t>
                </a:r>
              </a:p>
              <a:p>
                <a:r>
                  <a:rPr lang="en-US" b="1" dirty="0"/>
                  <a:t>Purpose:</a:t>
                </a:r>
                <a:r>
                  <a:rPr lang="en-US" dirty="0"/>
                  <a:t> 2D embedding preserving pairwise topological distances</a:t>
                </a:r>
              </a:p>
              <a:p>
                <a:r>
                  <a:rPr lang="en-US" b="1" dirty="0"/>
                  <a:t>Why you computed it:</a:t>
                </a:r>
                <a:r>
                  <a:rPr lang="en-US" dirty="0"/>
                  <a:t> To </a:t>
                </a:r>
                <a:r>
                  <a:rPr lang="en-US" i="1" dirty="0"/>
                  <a:t>see</a:t>
                </a:r>
                <a:r>
                  <a:rPr lang="en-US" dirty="0"/>
                  <a:t> the formation space. MDS projects the 100×100 bottleneck distance matrix into 2D while preserving distances as well as possible (stress = 39.24). Your plot (Image 10) shows partial separation of complete (green) vs incomplete (red) passes, with outliers representing topologically unusual formations. This gives geometric intuition about where different outcomes live in "topology space."</a:t>
                </a:r>
              </a:p>
              <a:p>
                <a:br>
                  <a:rPr lang="en-US" dirty="0"/>
                </a:br>
                <a:endParaRPr lang="en-US" dirty="0"/>
              </a:p>
              <a:p>
                <a:r>
                  <a:rPr lang="en-US" b="1" dirty="0"/>
                  <a:t>Temporal Analysis</a:t>
                </a:r>
              </a:p>
              <a:p>
                <a:r>
                  <a:rPr lang="en-US" b="1" dirty="0"/>
                  <a:t>10. Gap Evolution (H₁ over time)</a:t>
                </a:r>
              </a:p>
              <a:p>
                <a:r>
                  <a:rPr lang="en-US" b="1" dirty="0"/>
                  <a:t>Purpose:</a:t>
                </a:r>
                <a:r>
                  <a:rPr lang="en-US" dirty="0"/>
                  <a:t> Capture how coverage structure changes during a play</a:t>
                </a:r>
              </a:p>
              <a:p>
                <a:r>
                  <a:rPr lang="en-US" b="1" dirty="0"/>
                  <a:t>Why you computed it:</a:t>
                </a:r>
                <a:r>
                  <a:rPr lang="en-US" dirty="0"/>
                  <a:t> Static analysis only looks at one frame (ball release). But coverage gaps </a:t>
                </a:r>
                <a:r>
                  <a:rPr lang="en-US" i="1" dirty="0"/>
                  <a:t>evolve</a:t>
                </a:r>
                <a:r>
                  <a:rPr lang="en-US" dirty="0"/>
                  <a:t> — they may not exist at the snap but open as defenders react to routes. Your finding that H₁ decreases from snap to pass (0.83 → 0.40) shows defenses actively close holes. Complete passes maintaining larger gaps throughout suggests QBs exploit gaps that persist under defensive pressure.</a:t>
                </a:r>
              </a:p>
              <a:p>
                <a:br>
                  <a:rPr lang="en-US" dirty="0"/>
                </a:br>
                <a:endParaRPr lang="en-US" dirty="0"/>
              </a:p>
              <a:p>
                <a:r>
                  <a:rPr lang="en-US" b="1" dirty="0"/>
                  <a:t>11. Disguise Metric (Bottleneck </a:t>
                </a:r>
                <a:r>
                  <a:rPr lang="en-US" b="1" dirty="0" err="1"/>
                  <a:t>snap→pass</a:t>
                </a:r>
                <a:r>
                  <a:rPr lang="en-US" b="1" dirty="0"/>
                  <a:t>)</a:t>
                </a:r>
              </a:p>
              <a:p>
                <a:r>
                  <a:rPr lang="en-US" b="1" dirty="0"/>
                  <a:t>Purpose:</a:t>
                </a:r>
                <a:r>
                  <a:rPr lang="en-US" dirty="0"/>
                  <a:t> Quantify how much topology changes during a play</a:t>
                </a:r>
              </a:p>
              <a:p>
                <a:r>
                  <a:rPr lang="en-US" b="1" dirty="0"/>
                  <a:t>Why you computed it:</a:t>
                </a:r>
                <a:r>
                  <a:rPr lang="en-US" dirty="0"/>
                  <a:t> If a defense "disguises" coverage (shows zone, rotates to man), the topological structure should change significantly. You defined:</a:t>
                </a:r>
              </a:p>
              <a:p>
                <a:r>
                  <a:rPr lang="en-US" b="0" i="0">
                    <a:latin typeface="Cambria Math" panose="02040503050406030204" pitchFamily="18" charset="0"/>
                  </a:rPr>
                  <a:t>"Disguise</a:t>
                </a:r>
                <a:r>
                  <a:rPr lang="en-US" sz="1200" b="0" i="0" kern="1200">
                    <a:solidFill>
                      <a:schemeClr val="tx1"/>
                    </a:solidFill>
                    <a:latin typeface="+mn-lt"/>
                    <a:ea typeface="+mn-ea"/>
                    <a:cs typeface="+mn-cs"/>
                  </a:rPr>
                  <a:t>"=</a:t>
                </a:r>
                <a:r>
                  <a:rPr lang="ar-AE" sz="1200" b="0" i="0" kern="1200">
                    <a:solidFill>
                      <a:schemeClr val="tx1"/>
                    </a:solidFill>
                    <a:latin typeface="+mn-lt"/>
                    <a:ea typeface="+mn-ea"/>
                    <a:cs typeface="+mn-cs"/>
                  </a:rPr>
                  <a:t>𝑑_𝐵 (𝐷_</a:t>
                </a:r>
                <a:r>
                  <a:rPr lang="en-US" sz="1200" b="0" i="0" kern="1200">
                    <a:solidFill>
                      <a:schemeClr val="tx1"/>
                    </a:solidFill>
                    <a:latin typeface="+mn-lt"/>
                    <a:ea typeface="+mn-ea"/>
                    <a:cs typeface="+mn-cs"/>
                  </a:rPr>
                  <a:t>"snap</a:t>
                </a:r>
                <a:r>
                  <a:rPr lang="ar-AE" sz="1200" b="0" i="0" kern="1200">
                    <a:solidFill>
                      <a:schemeClr val="tx1"/>
                    </a:solidFill>
                    <a:latin typeface="+mn-lt"/>
                    <a:ea typeface="+mn-ea"/>
                    <a:cs typeface="+mn-cs"/>
                  </a:rPr>
                  <a:t>" ⓜ,𝐷_</a:t>
                </a:r>
                <a:r>
                  <a:rPr lang="en-US" sz="1200" b="0" i="0" kern="1200">
                    <a:solidFill>
                      <a:schemeClr val="tx1"/>
                    </a:solidFill>
                    <a:latin typeface="+mn-lt"/>
                    <a:ea typeface="+mn-ea"/>
                    <a:cs typeface="+mn-cs"/>
                  </a:rPr>
                  <a:t>"pass</a:t>
                </a:r>
                <a:r>
                  <a:rPr lang="ar-AE" sz="1200" b="0" i="0" kern="1200">
                    <a:solidFill>
                      <a:schemeClr val="tx1"/>
                    </a:solidFill>
                    <a:latin typeface="+mn-lt"/>
                    <a:ea typeface="+mn-ea"/>
                    <a:cs typeface="+mn-cs"/>
                  </a:rPr>
                  <a:t>"  )</a:t>
                </a:r>
                <a:endParaRPr lang="ar-AE" b="0" dirty="0"/>
              </a:p>
              <a:p>
                <a:r>
                  <a:rPr lang="en-US" dirty="0"/>
                  <a:t>Your finding that incomplete passes have </a:t>
                </a:r>
                <a:r>
                  <a:rPr lang="en-US" i="1" dirty="0"/>
                  <a:t>higher</a:t>
                </a:r>
                <a:r>
                  <a:rPr lang="en-US" dirty="0"/>
                  <a:t> disguise (5.44 vs 4.58, p &lt; 0.001) suggests defensive deception correlates with stopping passes — the coverage the QB read pre-snap wasn't what he faced at release.</a:t>
                </a:r>
              </a:p>
              <a:p>
                <a:br>
                  <a:rPr lang="en-US" dirty="0"/>
                </a:br>
                <a:endParaRPr lang="en-US" dirty="0"/>
              </a:p>
              <a:p>
                <a:r>
                  <a:rPr lang="en-US" b="1" dirty="0"/>
                  <a:t>12. Time-to-Gap</a:t>
                </a:r>
              </a:p>
              <a:p>
                <a:r>
                  <a:rPr lang="en-US" b="1" dirty="0"/>
                  <a:t>Purpose:</a:t>
                </a:r>
                <a:r>
                  <a:rPr lang="en-US" dirty="0"/>
                  <a:t> Identify </a:t>
                </a:r>
                <a:r>
                  <a:rPr lang="en-US" i="1" dirty="0"/>
                  <a:t>when</a:t>
                </a:r>
                <a:r>
                  <a:rPr lang="en-US" dirty="0"/>
                  <a:t> coverage breaks down</a:t>
                </a:r>
              </a:p>
              <a:p>
                <a:r>
                  <a:rPr lang="en-US" b="1" dirty="0"/>
                  <a:t>Why you computed it:</a:t>
                </a:r>
                <a:r>
                  <a:rPr lang="en-US" dirty="0"/>
                  <a:t> For play design, knowing that gaps form immediately (completions: median 0.0s) vs delayed (incompletions: median 0.4s) has tactical implications. Quick-forming gaps favor timing routes; late gaps require longer-developing plays. This connects topology to football strategy.</a:t>
                </a:r>
              </a:p>
              <a:p>
                <a:br>
                  <a:rPr lang="en-US" dirty="0"/>
                </a:br>
                <a:endParaRPr lang="en-US" dirty="0"/>
              </a:p>
              <a:p>
                <a:r>
                  <a:rPr lang="en-US" b="1" dirty="0"/>
                  <a:t>13. Betti Surfaces </a:t>
                </a:r>
                <a:r>
                  <a:rPr lang="el-GR" b="1" dirty="0"/>
                  <a:t>β₁(</a:t>
                </a:r>
                <a:r>
                  <a:rPr lang="en-US" b="1" dirty="0"/>
                  <a:t>scale, time)</a:t>
                </a:r>
              </a:p>
              <a:p>
                <a:r>
                  <a:rPr lang="en-US" b="1" dirty="0"/>
                  <a:t>Purpose:</a:t>
                </a:r>
                <a:r>
                  <a:rPr lang="en-US" dirty="0"/>
                  <a:t> Joint distribution of gaps across scale AND time</a:t>
                </a:r>
              </a:p>
              <a:p>
                <a:r>
                  <a:rPr lang="en-US" b="1" dirty="0"/>
                  <a:t>Why you computed it:</a:t>
                </a:r>
                <a:r>
                  <a:rPr lang="en-US" dirty="0"/>
                  <a:t> This is your most sophisticated temporal analysis. The heatmap shows gaps emerge most at ~9-11 yards, around 0.8-1.6s post-snap. The difference plot (complete - incomplete) reveals exactly where in (scale, time) space completions differ — giving coaches actionable insight about which routes at which depths exploit coverage vulnerabilities.</a:t>
                </a:r>
              </a:p>
              <a:p>
                <a:endParaRPr lang="en-US" dirty="0"/>
              </a:p>
            </p:txBody>
          </p:sp>
        </mc:Fallback>
      </mc:AlternateContent>
      <p:sp>
        <p:nvSpPr>
          <p:cNvPr id="4" name="Slide Number Placeholder 3"/>
          <p:cNvSpPr>
            <a:spLocks noGrp="1"/>
          </p:cNvSpPr>
          <p:nvPr>
            <p:ph type="sldNum" sz="quarter" idx="5"/>
          </p:nvPr>
        </p:nvSpPr>
        <p:spPr/>
        <p:txBody>
          <a:bodyPr/>
          <a:lstStyle/>
          <a:p>
            <a:fld id="{8598BCD1-D804-4FC5-849D-7D8353899E5D}" type="slidenum">
              <a:rPr lang="en-US" smtClean="0"/>
              <a:t>9</a:t>
            </a:fld>
            <a:endParaRPr lang="en-US"/>
          </a:p>
        </p:txBody>
      </p:sp>
    </p:spTree>
    <p:extLst>
      <p:ext uri="{BB962C8B-B14F-4D97-AF65-F5344CB8AC3E}">
        <p14:creationId xmlns:p14="http://schemas.microsoft.com/office/powerpoint/2010/main" val="950332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8D38747-4367-4BD2-8D51-C97E202738E2}" type="datetime1">
              <a:rPr lang="en-US" smtClean="0"/>
              <a:t>12/2/2025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66510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6478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43727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03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9589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4431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6139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6660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9EA15526-7079-4B7B-987C-1B5FAE11A0FF}" type="datetime1">
              <a:rPr lang="en-US" smtClean="0"/>
              <a:t>12/2/2025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pPr algn="l"/>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9942842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54135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635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073ED0CC-082F-4160-86E5-0D6041F12778}" type="datetime1">
              <a:rPr lang="en-US" smtClean="0"/>
              <a:t>12/2/2025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129317855"/>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8A1F-9754-1FB1-BC4B-85E2D5383E99}"/>
              </a:ext>
            </a:extLst>
          </p:cNvPr>
          <p:cNvSpPr>
            <a:spLocks noGrp="1"/>
          </p:cNvSpPr>
          <p:nvPr>
            <p:ph type="ctrTitle"/>
          </p:nvPr>
        </p:nvSpPr>
        <p:spPr>
          <a:xfrm>
            <a:off x="1375983" y="1814945"/>
            <a:ext cx="9440034" cy="1823419"/>
          </a:xfrm>
        </p:spPr>
        <p:txBody>
          <a:bodyPr>
            <a:normAutofit/>
          </a:bodyPr>
          <a:lstStyle/>
          <a:p>
            <a:r>
              <a:rPr lang="en-US" sz="7200" b="1" dirty="0"/>
              <a:t>NFL TDA</a:t>
            </a:r>
          </a:p>
        </p:txBody>
      </p:sp>
      <p:sp>
        <p:nvSpPr>
          <p:cNvPr id="3" name="Subtitle 2">
            <a:extLst>
              <a:ext uri="{FF2B5EF4-FFF2-40B4-BE49-F238E27FC236}">
                <a16:creationId xmlns:a16="http://schemas.microsoft.com/office/drawing/2014/main" id="{EA6E87F9-2DEC-DD55-8EB2-716D340566AF}"/>
              </a:ext>
            </a:extLst>
          </p:cNvPr>
          <p:cNvSpPr>
            <a:spLocks noGrp="1"/>
          </p:cNvSpPr>
          <p:nvPr>
            <p:ph type="subTitle" idx="1"/>
          </p:nvPr>
        </p:nvSpPr>
        <p:spPr>
          <a:xfrm>
            <a:off x="1375983" y="3638362"/>
            <a:ext cx="5767767" cy="1088336"/>
          </a:xfrm>
        </p:spPr>
        <p:txBody>
          <a:bodyPr>
            <a:normAutofit lnSpcReduction="10000"/>
          </a:bodyPr>
          <a:lstStyle/>
          <a:p>
            <a:r>
              <a:rPr lang="en-US" sz="2800" dirty="0">
                <a:solidFill>
                  <a:schemeClr val="bg1"/>
                </a:solidFill>
              </a:rPr>
              <a:t>Applying TDA to quantify defensive coverage gaps and correlation with play outcome</a:t>
            </a:r>
          </a:p>
        </p:txBody>
      </p:sp>
      <p:sp>
        <p:nvSpPr>
          <p:cNvPr id="4" name="Subtitle 2">
            <a:extLst>
              <a:ext uri="{FF2B5EF4-FFF2-40B4-BE49-F238E27FC236}">
                <a16:creationId xmlns:a16="http://schemas.microsoft.com/office/drawing/2014/main" id="{D57BD3F0-F90A-E030-2C09-B41E946ABDD0}"/>
              </a:ext>
            </a:extLst>
          </p:cNvPr>
          <p:cNvSpPr txBox="1">
            <a:spLocks/>
          </p:cNvSpPr>
          <p:nvPr/>
        </p:nvSpPr>
        <p:spPr>
          <a:xfrm>
            <a:off x="1375983" y="5730398"/>
            <a:ext cx="9440034" cy="518002"/>
          </a:xfrm>
          <a:prstGeom prst="rect">
            <a:avLst/>
          </a:prstGeom>
        </p:spPr>
        <p:txBody>
          <a:bodyPr vert="horz" lIns="91440" tIns="45720" rIns="91440" bIns="45720" rtlCol="0">
            <a:normAutofit/>
          </a:bodyPr>
          <a:lstStyle>
            <a:lvl1pPr marL="0" indent="0" algn="l" defTabSz="914400" rtl="0" eaLnBrk="1" latinLnBrk="0" hangingPunct="1">
              <a:lnSpc>
                <a:spcPct val="85000"/>
              </a:lnSpc>
              <a:spcBef>
                <a:spcPts val="1300"/>
              </a:spcBef>
              <a:buFont typeface="Arial" pitchFamily="34" charset="0"/>
              <a:buNone/>
              <a:defRPr sz="3200" kern="1200">
                <a:solidFill>
                  <a:srgbClr val="262626"/>
                </a:solidFill>
                <a:latin typeface="+mj-lt"/>
                <a:ea typeface="+mn-ea"/>
                <a:cs typeface="+mn-cs"/>
              </a:defRPr>
            </a:lvl1pPr>
            <a:lvl2pPr marL="457200" indent="0" algn="ctr" defTabSz="914400" rtl="0" eaLnBrk="1" latinLnBrk="0" hangingPunct="1">
              <a:lnSpc>
                <a:spcPct val="85000"/>
              </a:lnSpc>
              <a:spcBef>
                <a:spcPts val="600"/>
              </a:spcBef>
              <a:buFont typeface="Arial" pitchFamily="34" charset="0"/>
              <a:buNone/>
              <a:defRPr sz="2800" kern="1200">
                <a:solidFill>
                  <a:schemeClr val="tx1">
                    <a:lumMod val="85000"/>
                    <a:lumOff val="15000"/>
                  </a:schemeClr>
                </a:solidFill>
                <a:latin typeface="+mn-lt"/>
                <a:ea typeface="+mn-ea"/>
                <a:cs typeface="+mn-cs"/>
              </a:defRPr>
            </a:lvl2pPr>
            <a:lvl3pPr marL="914400" indent="0" algn="ctr" defTabSz="914400" rtl="0" eaLnBrk="1" latinLnBrk="0" hangingPunct="1">
              <a:lnSpc>
                <a:spcPct val="85000"/>
              </a:lnSpc>
              <a:spcBef>
                <a:spcPts val="600"/>
              </a:spcBef>
              <a:buFont typeface="Arial" pitchFamily="34" charset="0"/>
              <a:buNone/>
              <a:defRPr sz="2400" i="1" kern="1200">
                <a:solidFill>
                  <a:schemeClr val="tx1">
                    <a:lumMod val="85000"/>
                    <a:lumOff val="15000"/>
                  </a:schemeClr>
                </a:solidFill>
                <a:latin typeface="+mn-lt"/>
                <a:ea typeface="+mn-ea"/>
                <a:cs typeface="+mn-cs"/>
              </a:defRPr>
            </a:lvl3pPr>
            <a:lvl4pPr marL="13716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9pPr>
          </a:lstStyle>
          <a:p>
            <a:r>
              <a:rPr lang="en-US" sz="2800" dirty="0">
                <a:solidFill>
                  <a:schemeClr val="accent4">
                    <a:lumMod val="20000"/>
                    <a:lumOff val="80000"/>
                  </a:schemeClr>
                </a:solidFill>
              </a:rPr>
              <a:t>Arjun Mahesh</a:t>
            </a:r>
          </a:p>
        </p:txBody>
      </p:sp>
      <p:pic>
        <p:nvPicPr>
          <p:cNvPr id="8" name="20251202-0342-46.1443548">
            <a:hlinkClick r:id="" action="ppaction://media"/>
            <a:extLst>
              <a:ext uri="{FF2B5EF4-FFF2-40B4-BE49-F238E27FC236}">
                <a16:creationId xmlns:a16="http://schemas.microsoft.com/office/drawing/2014/main" id="{5CE6C094-9847-1F18-3601-F589EB677EA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143750" y="1492062"/>
            <a:ext cx="4344748" cy="3234636"/>
          </a:xfrm>
          <a:prstGeom prst="rect">
            <a:avLst/>
          </a:prstGeom>
        </p:spPr>
      </p:pic>
    </p:spTree>
    <p:extLst>
      <p:ext uri="{BB962C8B-B14F-4D97-AF65-F5344CB8AC3E}">
        <p14:creationId xmlns:p14="http://schemas.microsoft.com/office/powerpoint/2010/main" val="280607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3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B0CFA-9FCC-1CBC-500E-383366FDC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7D1D7-2334-556D-1DFB-5B98DF69CAC5}"/>
              </a:ext>
            </a:extLst>
          </p:cNvPr>
          <p:cNvSpPr>
            <a:spLocks noGrp="1"/>
          </p:cNvSpPr>
          <p:nvPr>
            <p:ph type="title"/>
          </p:nvPr>
        </p:nvSpPr>
        <p:spPr>
          <a:xfrm>
            <a:off x="657224" y="499533"/>
            <a:ext cx="10772775" cy="580602"/>
          </a:xfrm>
        </p:spPr>
        <p:txBody>
          <a:bodyPr>
            <a:normAutofit fontScale="90000"/>
          </a:bodyPr>
          <a:lstStyle/>
          <a:p>
            <a:r>
              <a:rPr lang="en-US" sz="4400" dirty="0"/>
              <a:t>Persistence Diagrams</a:t>
            </a:r>
          </a:p>
        </p:txBody>
      </p:sp>
      <p:grpSp>
        <p:nvGrpSpPr>
          <p:cNvPr id="8" name="Group 7">
            <a:extLst>
              <a:ext uri="{FF2B5EF4-FFF2-40B4-BE49-F238E27FC236}">
                <a16:creationId xmlns:a16="http://schemas.microsoft.com/office/drawing/2014/main" id="{0B6D558A-5D5D-85C4-6181-EA00F0763556}"/>
              </a:ext>
            </a:extLst>
          </p:cNvPr>
          <p:cNvGrpSpPr/>
          <p:nvPr/>
        </p:nvGrpSpPr>
        <p:grpSpPr>
          <a:xfrm>
            <a:off x="7660532" y="66435"/>
            <a:ext cx="4254376" cy="3362565"/>
            <a:chOff x="7660532" y="66435"/>
            <a:chExt cx="4254376" cy="3362565"/>
          </a:xfrm>
        </p:grpSpPr>
        <p:pic>
          <p:nvPicPr>
            <p:cNvPr id="6" name="Picture 5">
              <a:extLst>
                <a:ext uri="{FF2B5EF4-FFF2-40B4-BE49-F238E27FC236}">
                  <a16:creationId xmlns:a16="http://schemas.microsoft.com/office/drawing/2014/main" id="{E13D347D-CA93-F902-0FAA-A716A6229B06}"/>
                </a:ext>
              </a:extLst>
            </p:cNvPr>
            <p:cNvPicPr>
              <a:picLocks noChangeAspect="1"/>
            </p:cNvPicPr>
            <p:nvPr/>
          </p:nvPicPr>
          <p:blipFill>
            <a:blip r:embed="rId3"/>
            <a:srcRect l="-1" r="52424"/>
            <a:stretch>
              <a:fillRect/>
            </a:stretch>
          </p:blipFill>
          <p:spPr>
            <a:xfrm>
              <a:off x="7660532" y="66435"/>
              <a:ext cx="4254376" cy="3362565"/>
            </a:xfrm>
            <a:prstGeom prst="rect">
              <a:avLst/>
            </a:prstGeom>
          </p:spPr>
        </p:pic>
        <p:sp>
          <p:nvSpPr>
            <p:cNvPr id="7" name="Rectangle 6">
              <a:extLst>
                <a:ext uri="{FF2B5EF4-FFF2-40B4-BE49-F238E27FC236}">
                  <a16:creationId xmlns:a16="http://schemas.microsoft.com/office/drawing/2014/main" id="{F64E9CB7-B7B1-1E73-9092-39441B1A09E4}"/>
                </a:ext>
              </a:extLst>
            </p:cNvPr>
            <p:cNvSpPr/>
            <p:nvPr/>
          </p:nvSpPr>
          <p:spPr>
            <a:xfrm>
              <a:off x="11672455" y="1239982"/>
              <a:ext cx="152400" cy="9005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D0DE3461-D8FC-99B2-8656-80EE31B27FB8}"/>
              </a:ext>
            </a:extLst>
          </p:cNvPr>
          <p:cNvGrpSpPr/>
          <p:nvPr/>
        </p:nvGrpSpPr>
        <p:grpSpPr>
          <a:xfrm>
            <a:off x="7065819" y="3429000"/>
            <a:ext cx="4907488" cy="3362565"/>
            <a:chOff x="7065819" y="3429000"/>
            <a:chExt cx="4907488" cy="3362565"/>
          </a:xfrm>
        </p:grpSpPr>
        <p:pic>
          <p:nvPicPr>
            <p:cNvPr id="5" name="Picture 4">
              <a:extLst>
                <a:ext uri="{FF2B5EF4-FFF2-40B4-BE49-F238E27FC236}">
                  <a16:creationId xmlns:a16="http://schemas.microsoft.com/office/drawing/2014/main" id="{F672E481-C994-BB4A-4D7F-1B7805D828E4}"/>
                </a:ext>
              </a:extLst>
            </p:cNvPr>
            <p:cNvPicPr>
              <a:picLocks noChangeAspect="1"/>
            </p:cNvPicPr>
            <p:nvPr/>
          </p:nvPicPr>
          <p:blipFill>
            <a:blip r:embed="rId3"/>
            <a:srcRect l="45119"/>
            <a:stretch>
              <a:fillRect/>
            </a:stretch>
          </p:blipFill>
          <p:spPr>
            <a:xfrm>
              <a:off x="7065819" y="3429000"/>
              <a:ext cx="4907488" cy="3362565"/>
            </a:xfrm>
            <a:prstGeom prst="rect">
              <a:avLst/>
            </a:prstGeom>
          </p:spPr>
        </p:pic>
        <p:sp>
          <p:nvSpPr>
            <p:cNvPr id="9" name="Rectangle 8">
              <a:extLst>
                <a:ext uri="{FF2B5EF4-FFF2-40B4-BE49-F238E27FC236}">
                  <a16:creationId xmlns:a16="http://schemas.microsoft.com/office/drawing/2014/main" id="{866BB37B-C27E-31A9-CF3A-DD23169FF367}"/>
                </a:ext>
              </a:extLst>
            </p:cNvPr>
            <p:cNvSpPr/>
            <p:nvPr/>
          </p:nvSpPr>
          <p:spPr>
            <a:xfrm>
              <a:off x="7065819" y="3477491"/>
              <a:ext cx="193963" cy="1801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1">
            <a:extLst>
              <a:ext uri="{FF2B5EF4-FFF2-40B4-BE49-F238E27FC236}">
                <a16:creationId xmlns:a16="http://schemas.microsoft.com/office/drawing/2014/main" id="{07AE435D-1C77-CFD3-012B-6CCBBA86CB4A}"/>
              </a:ext>
            </a:extLst>
          </p:cNvPr>
          <p:cNvSpPr>
            <a:spLocks noGrp="1" noChangeArrowheads="1"/>
          </p:cNvSpPr>
          <p:nvPr>
            <p:ph idx="1"/>
          </p:nvPr>
        </p:nvSpPr>
        <p:spPr bwMode="auto">
          <a:xfrm>
            <a:off x="676275" y="2355010"/>
            <a:ext cx="57626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1800" dirty="0">
                <a:solidFill>
                  <a:schemeClr val="tx1"/>
                </a:solidFill>
              </a:rPr>
              <a:t>Data: NFL Big Data Bowl 2021, 253 games, 19237 plays</a:t>
            </a:r>
          </a:p>
          <a:p>
            <a:pPr marL="0" indent="0" eaLnBrk="0" fontAlgn="base" hangingPunct="0">
              <a:lnSpc>
                <a:spcPct val="100000"/>
              </a:lnSpc>
              <a:spcBef>
                <a:spcPct val="0"/>
              </a:spcBef>
              <a:spcAft>
                <a:spcPct val="0"/>
              </a:spcAft>
              <a:buNone/>
            </a:pPr>
            <a:endParaRPr lang="en-US" altLang="en-US" sz="1800" dirty="0">
              <a:solidFill>
                <a:schemeClr val="tx1"/>
              </a:solidFill>
            </a:endParaRPr>
          </a:p>
          <a:p>
            <a:pPr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Each frame </a:t>
            </a:r>
            <a:r>
              <a:rPr lang="en-US" sz="1800" dirty="0"/>
              <a:t>→ players’ XY positions → distance-based Vietoris-Rips complex</a:t>
            </a:r>
          </a:p>
          <a:p>
            <a:pPr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H</a:t>
            </a:r>
            <a:r>
              <a:rPr lang="en-US" altLang="en-US" sz="1800" baseline="-25000" dirty="0">
                <a:solidFill>
                  <a:schemeClr val="tx1"/>
                </a:solidFill>
              </a:rPr>
              <a:t>0 </a:t>
            </a:r>
            <a:r>
              <a:rPr lang="en-US" altLang="en-US" sz="1800" dirty="0">
                <a:solidFill>
                  <a:schemeClr val="tx1"/>
                </a:solidFill>
              </a:rPr>
              <a:t>(components): tightness or dispersion of defenders</a:t>
            </a:r>
            <a:endParaRPr kumimoji="0" lang="en-US" altLang="en-US"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H</a:t>
            </a:r>
            <a:r>
              <a:rPr kumimoji="0" lang="en-US" altLang="en-US" sz="1800" b="0" i="0" u="none" strike="noStrike" cap="none" normalizeH="0" baseline="-25000" dirty="0">
                <a:ln>
                  <a:noFill/>
                </a:ln>
                <a:solidFill>
                  <a:schemeClr val="tx1"/>
                </a:solidFill>
                <a:effectLst/>
              </a:rPr>
              <a:t>1 </a:t>
            </a:r>
            <a:r>
              <a:rPr kumimoji="0" lang="en-US" altLang="en-US" sz="1800" b="0" i="0" u="none" strike="noStrike" cap="none" normalizeH="0" dirty="0">
                <a:ln>
                  <a:noFill/>
                </a:ln>
                <a:solidFill>
                  <a:schemeClr val="tx1"/>
                </a:solidFill>
                <a:effectLst/>
              </a:rPr>
              <a:t>(holes): coverage gaps that a QB might exploit</a:t>
            </a:r>
          </a:p>
          <a:p>
            <a:pPr eaLnBrk="0" fontAlgn="base" hangingPunct="0">
              <a:lnSpc>
                <a:spcPct val="100000"/>
              </a:lnSpc>
              <a:spcBef>
                <a:spcPct val="0"/>
              </a:spcBef>
              <a:spcAft>
                <a:spcPct val="0"/>
              </a:spcAft>
              <a:buFont typeface="Arial" panose="020B0604020202020204" pitchFamily="34" charset="0"/>
              <a:buChar char="•"/>
            </a:pPr>
            <a:r>
              <a:rPr lang="en-US" altLang="en-US" sz="1800" baseline="0" dirty="0">
                <a:solidFill>
                  <a:schemeClr val="tx1"/>
                </a:solidFill>
              </a:rPr>
              <a:t>Persistence diagrams summarize topology at different distance scales</a:t>
            </a:r>
            <a:endParaRPr lang="en-US" altLang="en-US" sz="1800"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DFF7089-5853-DFE4-CAFA-1908281D24A1}"/>
                  </a:ext>
                </a:extLst>
              </p:cNvPr>
              <p:cNvSpPr txBox="1"/>
              <p:nvPr/>
            </p:nvSpPr>
            <p:spPr>
              <a:xfrm>
                <a:off x="528637" y="4715141"/>
                <a:ext cx="6057900" cy="7902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𝐷𝑖𝑎𝑔𝑟𝑎𝑚</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e>
                          </m:d>
                        </m:e>
                      </m:d>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eqArr>
                            <m:eqArrPr>
                              <m:ctrlPr>
                                <a:rPr lang="en-US"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ea typeface="Cambria Math" panose="02040503050406030204" pitchFamily="18" charset="0"/>
                                </a:rPr>
                                <m:t>𝛽</m:t>
                              </m:r>
                            </m:e>
                          </m:eqArr>
                        </m:e>
                        <m:sub>
                          <m:r>
                            <a:rPr lang="en-US" i="1">
                              <a:latin typeface="Cambria Math" panose="02040503050406030204" pitchFamily="18" charset="0"/>
                            </a:rPr>
                            <m:t>𝑝</m:t>
                          </m:r>
                        </m:sub>
                      </m:sSub>
                      <m:r>
                        <a:rPr lang="en-US" i="1">
                          <a:latin typeface="Cambria Math" panose="02040503050406030204" pitchFamily="18" charset="0"/>
                        </a:rPr>
                        <m:t>=# </m:t>
                      </m:r>
                      <m:r>
                        <a:rPr lang="en-US" i="1">
                          <a:latin typeface="Cambria Math" panose="02040503050406030204" pitchFamily="18" charset="0"/>
                        </a:rPr>
                        <m:t>𝑓𝑒𝑎𝑡𝑢𝑟𝑒𝑠</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𝑝</m:t>
                          </m:r>
                        </m:sub>
                      </m:sSub>
                    </m:oMath>
                  </m:oMathPara>
                </a14:m>
                <a:endParaRPr lang="en-US" dirty="0"/>
              </a:p>
            </p:txBody>
          </p:sp>
        </mc:Choice>
        <mc:Fallback xmlns="">
          <p:sp>
            <p:nvSpPr>
              <p:cNvPr id="12" name="TextBox 11">
                <a:extLst>
                  <a:ext uri="{FF2B5EF4-FFF2-40B4-BE49-F238E27FC236}">
                    <a16:creationId xmlns:a16="http://schemas.microsoft.com/office/drawing/2014/main" id="{ADFF7089-5853-DFE4-CAFA-1908281D24A1}"/>
                  </a:ext>
                </a:extLst>
              </p:cNvPr>
              <p:cNvSpPr txBox="1">
                <a:spLocks noRot="1" noChangeAspect="1" noMove="1" noResize="1" noEditPoints="1" noAdjustHandles="1" noChangeArrowheads="1" noChangeShapeType="1" noTextEdit="1"/>
              </p:cNvSpPr>
              <p:nvPr/>
            </p:nvSpPr>
            <p:spPr>
              <a:xfrm>
                <a:off x="528637" y="4715141"/>
                <a:ext cx="6057900" cy="79028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5897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2747-774A-EA5F-AF2A-4D8938667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44CCD-6855-A3F2-FC68-A7630770479E}"/>
              </a:ext>
            </a:extLst>
          </p:cNvPr>
          <p:cNvSpPr>
            <a:spLocks noGrp="1"/>
          </p:cNvSpPr>
          <p:nvPr>
            <p:ph type="title"/>
          </p:nvPr>
        </p:nvSpPr>
        <p:spPr>
          <a:xfrm>
            <a:off x="657224" y="499533"/>
            <a:ext cx="10772775" cy="580602"/>
          </a:xfrm>
        </p:spPr>
        <p:txBody>
          <a:bodyPr>
            <a:normAutofit fontScale="90000"/>
          </a:bodyPr>
          <a:lstStyle/>
          <a:p>
            <a:r>
              <a:rPr lang="en-US" sz="4400" dirty="0"/>
              <a:t>Feature Extraction &amp; Distribution</a:t>
            </a:r>
          </a:p>
        </p:txBody>
      </p:sp>
      <p:pic>
        <p:nvPicPr>
          <p:cNvPr id="9" name="Content Placeholder 8" descr="A group of graphs showing different colored lines&#10;&#10;AI-generated content may be incorrect.">
            <a:extLst>
              <a:ext uri="{FF2B5EF4-FFF2-40B4-BE49-F238E27FC236}">
                <a16:creationId xmlns:a16="http://schemas.microsoft.com/office/drawing/2014/main" id="{1F2A786F-ECE0-FF85-3CD4-6050D7BA4DD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54556" y="1235134"/>
            <a:ext cx="8039189" cy="5318066"/>
          </a:xfrm>
        </p:spPr>
      </p:pic>
      <p:sp>
        <p:nvSpPr>
          <p:cNvPr id="10" name="Rectangle 1">
            <a:extLst>
              <a:ext uri="{FF2B5EF4-FFF2-40B4-BE49-F238E27FC236}">
                <a16:creationId xmlns:a16="http://schemas.microsoft.com/office/drawing/2014/main" id="{D1155BAB-83DD-F652-242F-56F9403C898B}"/>
              </a:ext>
            </a:extLst>
          </p:cNvPr>
          <p:cNvSpPr txBox="1">
            <a:spLocks noChangeArrowheads="1"/>
          </p:cNvSpPr>
          <p:nvPr/>
        </p:nvSpPr>
        <p:spPr bwMode="auto">
          <a:xfrm>
            <a:off x="676275" y="1949809"/>
            <a:ext cx="340628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lvl="0" indent="0" eaLnBrk="0" fontAlgn="base" hangingPunct="0">
              <a:lnSpc>
                <a:spcPct val="100000"/>
              </a:lnSpc>
              <a:spcBef>
                <a:spcPct val="0"/>
              </a:spcBef>
              <a:spcAft>
                <a:spcPct val="0"/>
              </a:spcAft>
              <a:buFontTx/>
              <a:buChar char="•"/>
            </a:pPr>
            <a:r>
              <a:rPr lang="en-US" altLang="en-US" sz="1800" dirty="0">
                <a:solidFill>
                  <a:schemeClr val="tx1"/>
                </a:solidFill>
              </a:rPr>
              <a:t>Most plays have 0–1 loops (coverage gaps)</a:t>
            </a:r>
          </a:p>
          <a:p>
            <a:pPr marL="256032" lvl="1" indent="0" eaLnBrk="0" fontAlgn="base" hangingPunct="0">
              <a:lnSpc>
                <a:spcPct val="100000"/>
              </a:lnSpc>
              <a:spcBef>
                <a:spcPct val="0"/>
              </a:spcBef>
              <a:spcAft>
                <a:spcPct val="0"/>
              </a:spcAft>
              <a:buFontTx/>
              <a:buChar char="•"/>
            </a:pPr>
            <a:r>
              <a:rPr lang="en-US" altLang="en-US" sz="1600" b="1" dirty="0">
                <a:solidFill>
                  <a:schemeClr val="tx1"/>
                </a:solidFill>
              </a:rPr>
              <a:t>Mean H</a:t>
            </a:r>
            <a:r>
              <a:rPr lang="en-US" altLang="en-US" sz="1600" b="1" baseline="-25000" dirty="0">
                <a:solidFill>
                  <a:schemeClr val="tx1"/>
                </a:solidFill>
              </a:rPr>
              <a:t>1 </a:t>
            </a:r>
            <a:r>
              <a:rPr lang="en-US" altLang="en-US" sz="1600" b="1" dirty="0">
                <a:solidFill>
                  <a:schemeClr val="tx1"/>
                </a:solidFill>
              </a:rPr>
              <a:t>features per play: </a:t>
            </a:r>
            <a:r>
              <a:rPr lang="en-US" altLang="en-US" sz="1600" dirty="0">
                <a:solidFill>
                  <a:schemeClr val="tx1"/>
                </a:solidFill>
              </a:rPr>
              <a:t>0.41</a:t>
            </a:r>
            <a:endParaRPr lang="en-US" altLang="en-US" sz="1600" b="1" dirty="0">
              <a:solidFill>
                <a:schemeClr val="tx1"/>
              </a:solidFill>
            </a:endParaRPr>
          </a:p>
          <a:p>
            <a:pPr marL="0" lvl="0" indent="0" eaLnBrk="0" fontAlgn="base" hangingPunct="0">
              <a:lnSpc>
                <a:spcPct val="100000"/>
              </a:lnSpc>
              <a:spcBef>
                <a:spcPct val="0"/>
              </a:spcBef>
              <a:spcAft>
                <a:spcPct val="0"/>
              </a:spcAft>
              <a:buFontTx/>
              <a:buChar char="•"/>
            </a:pPr>
            <a:r>
              <a:rPr lang="en-US" altLang="en-US" sz="1800" dirty="0">
                <a:solidFill>
                  <a:schemeClr val="tx1"/>
                </a:solidFill>
              </a:rPr>
              <a:t>Gaps vary in size (persistence), there are few large gaps</a:t>
            </a:r>
          </a:p>
          <a:p>
            <a:pPr marL="0" lvl="0" indent="0" eaLnBrk="0" fontAlgn="base" hangingPunct="0">
              <a:lnSpc>
                <a:spcPct val="100000"/>
              </a:lnSpc>
              <a:spcBef>
                <a:spcPct val="0"/>
              </a:spcBef>
              <a:spcAft>
                <a:spcPct val="0"/>
              </a:spcAft>
              <a:buFontTx/>
              <a:buChar char="•"/>
            </a:pPr>
            <a:r>
              <a:rPr lang="en-US" altLang="en-US" sz="1800" dirty="0">
                <a:solidFill>
                  <a:schemeClr val="tx1"/>
                </a:solidFill>
              </a:rPr>
              <a:t>Persistence entropy is low → gaps tend to occur on consistent scales.</a:t>
            </a:r>
          </a:p>
          <a:p>
            <a:pPr marL="256032" lvl="1" indent="0" eaLnBrk="0" fontAlgn="base" hangingPunct="0">
              <a:lnSpc>
                <a:spcPct val="100000"/>
              </a:lnSpc>
              <a:spcBef>
                <a:spcPct val="0"/>
              </a:spcBef>
              <a:spcAft>
                <a:spcPct val="0"/>
              </a:spcAft>
              <a:buFontTx/>
              <a:buChar char="•"/>
            </a:pPr>
            <a:r>
              <a:rPr lang="en-US" altLang="en-US" sz="1600" b="1" dirty="0">
                <a:solidFill>
                  <a:schemeClr val="tx1"/>
                </a:solidFill>
              </a:rPr>
              <a:t>Mean max persistence: </a:t>
            </a:r>
            <a:r>
              <a:rPr lang="en-US" altLang="en-US" sz="1600" dirty="0">
                <a:solidFill>
                  <a:schemeClr val="tx1"/>
                </a:solidFill>
              </a:rPr>
              <a:t>0.6 yds</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E038A9-DAE3-9AF5-277F-E65882653F72}"/>
                  </a:ext>
                </a:extLst>
              </p:cNvPr>
              <p:cNvSpPr txBox="1"/>
              <p:nvPr/>
            </p:nvSpPr>
            <p:spPr>
              <a:xfrm>
                <a:off x="165587" y="5238750"/>
                <a:ext cx="3562349" cy="7679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𝐹𝑒𝑎𝑡𝑢𝑟𝑒𝑠</m:t>
                      </m:r>
                      <m:r>
                        <a:rPr lang="en-US" sz="1600" b="0" i="1" smtClean="0">
                          <a:latin typeface="Cambria Math" panose="02040503050406030204" pitchFamily="18" charset="0"/>
                        </a:rPr>
                        <m:t> </m:t>
                      </m:r>
                      <m:r>
                        <a:rPr lang="en-US" sz="1600" b="0" i="1" smtClean="0">
                          <a:latin typeface="Cambria Math" panose="02040503050406030204" pitchFamily="18" charset="0"/>
                        </a:rPr>
                        <m:t>𝑒𝑥𝑡𝑟𝑎𝑐𝑡𝑒𝑑</m:t>
                      </m:r>
                      <m:r>
                        <a:rPr lang="en-US" sz="1600" b="0" i="1" smtClean="0">
                          <a:latin typeface="Cambria Math" panose="02040503050406030204" pitchFamily="18" charset="0"/>
                        </a:rPr>
                        <m:t>:</m:t>
                      </m:r>
                    </m:oMath>
                  </m:oMathPara>
                </a14:m>
                <a:endParaRPr lang="en-US" sz="16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r>
                        <a:rPr lang="en-US" sz="1400" b="0" i="1" smtClean="0">
                          <a:latin typeface="Cambria Math" panose="02040503050406030204" pitchFamily="18" charset="0"/>
                        </a:rPr>
                        <m:t>𝑛𝑢𝑚</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𝐻</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max</m:t>
                          </m:r>
                        </m:fName>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𝑝𝑒𝑟𝑠</m:t>
                              </m:r>
                            </m:e>
                          </m:d>
                        </m:e>
                      </m:func>
                      <m:r>
                        <a:rPr lang="en-US" sz="1400" b="0" i="1" smtClean="0">
                          <a:latin typeface="Cambria Math" panose="02040503050406030204" pitchFamily="18" charset="0"/>
                        </a:rPr>
                        <m:t>, </m:t>
                      </m:r>
                      <m:r>
                        <a:rPr lang="en-US" sz="1400" b="0" i="1" smtClean="0">
                          <a:latin typeface="Cambria Math" panose="02040503050406030204" pitchFamily="18" charset="0"/>
                        </a:rPr>
                        <m:t>𝑎𝑣𝑔</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𝑝𝑒𝑟𝑠</m:t>
                          </m:r>
                        </m:e>
                      </m:d>
                      <m:r>
                        <a:rPr lang="en-US" sz="1400" b="0" i="1" smtClean="0">
                          <a:latin typeface="Cambria Math" panose="02040503050406030204" pitchFamily="18" charset="0"/>
                        </a:rPr>
                        <m:t>, </m:t>
                      </m:r>
                      <m:nary>
                        <m:naryPr>
                          <m:chr m:val="∑"/>
                          <m:subHide m:val="on"/>
                          <m:supHide m:val="on"/>
                          <m:ctrlPr>
                            <a:rPr lang="en-US" sz="1400" b="0" i="1" smtClean="0">
                              <a:latin typeface="Cambria Math" panose="02040503050406030204" pitchFamily="18" charset="0"/>
                            </a:rPr>
                          </m:ctrlPr>
                        </m:naryPr>
                        <m:sub/>
                        <m:sup/>
                        <m:e>
                          <m:r>
                            <a:rPr lang="en-US" sz="1400" b="0" i="1" smtClean="0">
                              <a:latin typeface="Cambria Math" panose="02040503050406030204" pitchFamily="18" charset="0"/>
                            </a:rPr>
                            <m:t>𝑝𝑒𝑟𝑠</m:t>
                          </m:r>
                          <m:r>
                            <a:rPr lang="en-US" sz="1400" b="0" i="1" smtClean="0">
                              <a:latin typeface="Cambria Math" panose="02040503050406030204" pitchFamily="18" charset="0"/>
                            </a:rPr>
                            <m:t>, </m:t>
                          </m:r>
                          <m:r>
                            <a:rPr lang="en-US" sz="1400" b="0" i="1" smtClean="0">
                              <a:latin typeface="Cambria Math" panose="02040503050406030204" pitchFamily="18" charset="0"/>
                            </a:rPr>
                            <m:t>𝑒𝑛𝑡𝑟𝑜𝑝𝑦</m:t>
                          </m:r>
                        </m:e>
                      </m:nary>
                      <m:r>
                        <a:rPr lang="en-US" sz="1400"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BDE038A9-DAE3-9AF5-277F-E65882653F72}"/>
                  </a:ext>
                </a:extLst>
              </p:cNvPr>
              <p:cNvSpPr txBox="1">
                <a:spLocks noRot="1" noChangeAspect="1" noMove="1" noResize="1" noEditPoints="1" noAdjustHandles="1" noChangeArrowheads="1" noChangeShapeType="1" noTextEdit="1"/>
              </p:cNvSpPr>
              <p:nvPr/>
            </p:nvSpPr>
            <p:spPr>
              <a:xfrm>
                <a:off x="165587" y="5238750"/>
                <a:ext cx="3562349" cy="767967"/>
              </a:xfrm>
              <a:prstGeom prst="rect">
                <a:avLst/>
              </a:prstGeom>
              <a:blipFill>
                <a:blip r:embed="rId4"/>
                <a:stretch>
                  <a:fillRect l="-2393" t="-66667" r="-13333" b="-139683"/>
                </a:stretch>
              </a:blipFill>
            </p:spPr>
            <p:txBody>
              <a:bodyPr/>
              <a:lstStyle/>
              <a:p>
                <a:r>
                  <a:rPr lang="en-US">
                    <a:noFill/>
                  </a:rPr>
                  <a:t> </a:t>
                </a:r>
              </a:p>
            </p:txBody>
          </p:sp>
        </mc:Fallback>
      </mc:AlternateContent>
    </p:spTree>
    <p:extLst>
      <p:ext uri="{BB962C8B-B14F-4D97-AF65-F5344CB8AC3E}">
        <p14:creationId xmlns:p14="http://schemas.microsoft.com/office/powerpoint/2010/main" val="3078307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2E26-C93C-648E-FB39-9EB61EE7D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93909-8F1D-5417-53E8-32E5631AE5DC}"/>
              </a:ext>
            </a:extLst>
          </p:cNvPr>
          <p:cNvSpPr>
            <a:spLocks noGrp="1"/>
          </p:cNvSpPr>
          <p:nvPr>
            <p:ph type="title"/>
          </p:nvPr>
        </p:nvSpPr>
        <p:spPr>
          <a:xfrm>
            <a:off x="657224" y="499533"/>
            <a:ext cx="10772775" cy="580602"/>
          </a:xfrm>
        </p:spPr>
        <p:txBody>
          <a:bodyPr>
            <a:normAutofit fontScale="90000"/>
          </a:bodyPr>
          <a:lstStyle/>
          <a:p>
            <a:r>
              <a:rPr lang="en-US" sz="4400" dirty="0"/>
              <a:t>H</a:t>
            </a:r>
            <a:r>
              <a:rPr lang="en-US" sz="4400" baseline="-25000" dirty="0"/>
              <a:t>1 </a:t>
            </a:r>
            <a:r>
              <a:rPr lang="en-US" sz="4400" dirty="0"/>
              <a:t>features correlate with pass completion</a:t>
            </a:r>
          </a:p>
        </p:txBody>
      </p:sp>
      <p:graphicFrame>
        <p:nvGraphicFramePr>
          <p:cNvPr id="4" name="Content Placeholder 3">
            <a:extLst>
              <a:ext uri="{FF2B5EF4-FFF2-40B4-BE49-F238E27FC236}">
                <a16:creationId xmlns:a16="http://schemas.microsoft.com/office/drawing/2014/main" id="{07A9B512-2861-72FE-99B7-E09244F764E1}"/>
              </a:ext>
            </a:extLst>
          </p:cNvPr>
          <p:cNvGraphicFramePr>
            <a:graphicFrameLocks noGrp="1"/>
          </p:cNvGraphicFramePr>
          <p:nvPr>
            <p:ph idx="1"/>
            <p:extLst>
              <p:ext uri="{D42A27DB-BD31-4B8C-83A1-F6EECF244321}">
                <p14:modId xmlns:p14="http://schemas.microsoft.com/office/powerpoint/2010/main" val="606467094"/>
              </p:ext>
            </p:extLst>
          </p:nvPr>
        </p:nvGraphicFramePr>
        <p:xfrm>
          <a:off x="676275" y="1411288"/>
          <a:ext cx="10753725" cy="1112520"/>
        </p:xfrm>
        <a:graphic>
          <a:graphicData uri="http://schemas.openxmlformats.org/drawingml/2006/table">
            <a:tbl>
              <a:tblPr firstRow="1" bandRow="1">
                <a:tableStyleId>{5C22544A-7EE6-4342-B048-85BDC9FD1C3A}</a:tableStyleId>
              </a:tblPr>
              <a:tblGrid>
                <a:gridCol w="2150745">
                  <a:extLst>
                    <a:ext uri="{9D8B030D-6E8A-4147-A177-3AD203B41FA5}">
                      <a16:colId xmlns:a16="http://schemas.microsoft.com/office/drawing/2014/main" val="2434347998"/>
                    </a:ext>
                  </a:extLst>
                </a:gridCol>
                <a:gridCol w="2150745">
                  <a:extLst>
                    <a:ext uri="{9D8B030D-6E8A-4147-A177-3AD203B41FA5}">
                      <a16:colId xmlns:a16="http://schemas.microsoft.com/office/drawing/2014/main" val="2119935264"/>
                    </a:ext>
                  </a:extLst>
                </a:gridCol>
                <a:gridCol w="2150745">
                  <a:extLst>
                    <a:ext uri="{9D8B030D-6E8A-4147-A177-3AD203B41FA5}">
                      <a16:colId xmlns:a16="http://schemas.microsoft.com/office/drawing/2014/main" val="3932447035"/>
                    </a:ext>
                  </a:extLst>
                </a:gridCol>
                <a:gridCol w="2150745">
                  <a:extLst>
                    <a:ext uri="{9D8B030D-6E8A-4147-A177-3AD203B41FA5}">
                      <a16:colId xmlns:a16="http://schemas.microsoft.com/office/drawing/2014/main" val="1861226587"/>
                    </a:ext>
                  </a:extLst>
                </a:gridCol>
                <a:gridCol w="2150745">
                  <a:extLst>
                    <a:ext uri="{9D8B030D-6E8A-4147-A177-3AD203B41FA5}">
                      <a16:colId xmlns:a16="http://schemas.microsoft.com/office/drawing/2014/main" val="4223887532"/>
                    </a:ext>
                  </a:extLst>
                </a:gridCol>
              </a:tblGrid>
              <a:tr h="370840">
                <a:tc>
                  <a:txBody>
                    <a:bodyPr/>
                    <a:lstStyle/>
                    <a:p>
                      <a:r>
                        <a:rPr lang="en-US" dirty="0"/>
                        <a:t>Feature</a:t>
                      </a:r>
                    </a:p>
                  </a:txBody>
                  <a:tcPr/>
                </a:tc>
                <a:tc>
                  <a:txBody>
                    <a:bodyPr/>
                    <a:lstStyle/>
                    <a:p>
                      <a:r>
                        <a:rPr lang="en-US" b="1" dirty="0">
                          <a:solidFill>
                            <a:schemeClr val="accent6">
                              <a:lumMod val="40000"/>
                              <a:lumOff val="60000"/>
                            </a:schemeClr>
                          </a:solidFill>
                        </a:rPr>
                        <a:t>Complete</a:t>
                      </a:r>
                    </a:p>
                  </a:txBody>
                  <a:tcPr/>
                </a:tc>
                <a:tc>
                  <a:txBody>
                    <a:bodyPr/>
                    <a:lstStyle/>
                    <a:p>
                      <a:r>
                        <a:rPr lang="en-US" b="1" dirty="0">
                          <a:solidFill>
                            <a:schemeClr val="tx2">
                              <a:lumMod val="20000"/>
                              <a:lumOff val="80000"/>
                            </a:schemeClr>
                          </a:solidFill>
                        </a:rPr>
                        <a:t>Incomplete</a:t>
                      </a:r>
                    </a:p>
                  </a:txBody>
                  <a:tcPr/>
                </a:tc>
                <a:tc>
                  <a:txBody>
                    <a:bodyPr/>
                    <a:lstStyle/>
                    <a:p>
                      <a:r>
                        <a:rPr lang="en-US" dirty="0"/>
                        <a:t>t-stat</a:t>
                      </a:r>
                    </a:p>
                  </a:txBody>
                  <a:tcPr/>
                </a:tc>
                <a:tc>
                  <a:txBody>
                    <a:bodyPr/>
                    <a:lstStyle/>
                    <a:p>
                      <a:r>
                        <a:rPr lang="en-US" dirty="0"/>
                        <a:t>p-value</a:t>
                      </a:r>
                    </a:p>
                  </a:txBody>
                  <a:tcPr/>
                </a:tc>
                <a:extLst>
                  <a:ext uri="{0D108BD9-81ED-4DB2-BD59-A6C34878D82A}">
                    <a16:rowId xmlns:a16="http://schemas.microsoft.com/office/drawing/2014/main" val="1015747856"/>
                  </a:ext>
                </a:extLst>
              </a:tr>
              <a:tr h="370840">
                <a:tc>
                  <a:txBody>
                    <a:bodyPr/>
                    <a:lstStyle/>
                    <a:p>
                      <a:r>
                        <a:rPr lang="en-US" dirty="0"/>
                        <a:t>H</a:t>
                      </a:r>
                      <a:r>
                        <a:rPr lang="en-US" baseline="-25000" dirty="0"/>
                        <a:t>1 </a:t>
                      </a:r>
                      <a:r>
                        <a:rPr lang="en-US" baseline="0" dirty="0"/>
                        <a:t>max persistence</a:t>
                      </a:r>
                    </a:p>
                  </a:txBody>
                  <a:tcPr/>
                </a:tc>
                <a:tc>
                  <a:txBody>
                    <a:bodyPr/>
                    <a:lstStyle/>
                    <a:p>
                      <a:r>
                        <a:rPr lang="en-US" dirty="0">
                          <a:solidFill>
                            <a:schemeClr val="accent6">
                              <a:lumMod val="75000"/>
                            </a:schemeClr>
                          </a:solidFill>
                        </a:rPr>
                        <a:t>0.533</a:t>
                      </a:r>
                    </a:p>
                  </a:txBody>
                  <a:tcPr/>
                </a:tc>
                <a:tc>
                  <a:txBody>
                    <a:bodyPr/>
                    <a:lstStyle/>
                    <a:p>
                      <a:r>
                        <a:rPr lang="en-US" dirty="0">
                          <a:solidFill>
                            <a:schemeClr val="accent4">
                              <a:lumMod val="60000"/>
                              <a:lumOff val="40000"/>
                            </a:schemeClr>
                          </a:solidFill>
                        </a:rPr>
                        <a:t>0.581</a:t>
                      </a:r>
                    </a:p>
                  </a:txBody>
                  <a:tcPr/>
                </a:tc>
                <a:tc>
                  <a:txBody>
                    <a:bodyPr/>
                    <a:lstStyle/>
                    <a:p>
                      <a:r>
                        <a:rPr lang="en-US" dirty="0"/>
                        <a:t>-2.80</a:t>
                      </a:r>
                    </a:p>
                  </a:txBody>
                  <a:tcPr/>
                </a:tc>
                <a:tc>
                  <a:txBody>
                    <a:bodyPr/>
                    <a:lstStyle/>
                    <a:p>
                      <a:r>
                        <a:rPr lang="en-US" b="1" dirty="0"/>
                        <a:t>0.005</a:t>
                      </a:r>
                    </a:p>
                  </a:txBody>
                  <a:tcPr/>
                </a:tc>
                <a:extLst>
                  <a:ext uri="{0D108BD9-81ED-4DB2-BD59-A6C34878D82A}">
                    <a16:rowId xmlns:a16="http://schemas.microsoft.com/office/drawing/2014/main" val="24768216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t>
                      </a:r>
                      <a:r>
                        <a:rPr lang="en-US" baseline="-25000" dirty="0"/>
                        <a:t>1 </a:t>
                      </a:r>
                      <a:r>
                        <a:rPr lang="en-US" baseline="0" dirty="0"/>
                        <a:t>avg persistence</a:t>
                      </a:r>
                    </a:p>
                  </a:txBody>
                  <a:tcPr/>
                </a:tc>
                <a:tc>
                  <a:txBody>
                    <a:bodyPr/>
                    <a:lstStyle/>
                    <a:p>
                      <a:r>
                        <a:rPr lang="en-US" dirty="0">
                          <a:solidFill>
                            <a:schemeClr val="accent6">
                              <a:lumMod val="75000"/>
                            </a:schemeClr>
                          </a:solidFill>
                        </a:rPr>
                        <a:t>0.512</a:t>
                      </a:r>
                    </a:p>
                  </a:txBody>
                  <a:tcPr/>
                </a:tc>
                <a:tc>
                  <a:txBody>
                    <a:bodyPr/>
                    <a:lstStyle/>
                    <a:p>
                      <a:r>
                        <a:rPr lang="en-US" dirty="0">
                          <a:solidFill>
                            <a:schemeClr val="accent4">
                              <a:lumMod val="60000"/>
                              <a:lumOff val="40000"/>
                            </a:schemeClr>
                          </a:solidFill>
                        </a:rPr>
                        <a:t>0.554</a:t>
                      </a:r>
                    </a:p>
                  </a:txBody>
                  <a:tcPr/>
                </a:tc>
                <a:tc>
                  <a:txBody>
                    <a:bodyPr/>
                    <a:lstStyle/>
                    <a:p>
                      <a:r>
                        <a:rPr lang="en-US" dirty="0"/>
                        <a:t>-2.57</a:t>
                      </a:r>
                    </a:p>
                  </a:txBody>
                  <a:tcPr/>
                </a:tc>
                <a:tc>
                  <a:txBody>
                    <a:bodyPr/>
                    <a:lstStyle/>
                    <a:p>
                      <a:r>
                        <a:rPr lang="en-US" b="1" dirty="0"/>
                        <a:t>0.010</a:t>
                      </a:r>
                    </a:p>
                  </a:txBody>
                  <a:tcPr/>
                </a:tc>
                <a:extLst>
                  <a:ext uri="{0D108BD9-81ED-4DB2-BD59-A6C34878D82A}">
                    <a16:rowId xmlns:a16="http://schemas.microsoft.com/office/drawing/2014/main" val="2439932394"/>
                  </a:ext>
                </a:extLst>
              </a:tr>
            </a:tbl>
          </a:graphicData>
        </a:graphic>
      </p:graphicFrame>
      <p:sp>
        <p:nvSpPr>
          <p:cNvPr id="5" name="Rectangle 1">
            <a:extLst>
              <a:ext uri="{FF2B5EF4-FFF2-40B4-BE49-F238E27FC236}">
                <a16:creationId xmlns:a16="http://schemas.microsoft.com/office/drawing/2014/main" id="{ECCB6D40-09E8-F4FB-1812-8A4299166A5A}"/>
              </a:ext>
            </a:extLst>
          </p:cNvPr>
          <p:cNvSpPr txBox="1">
            <a:spLocks noChangeArrowheads="1"/>
          </p:cNvSpPr>
          <p:nvPr/>
        </p:nvSpPr>
        <p:spPr bwMode="auto">
          <a:xfrm>
            <a:off x="676275" y="3709881"/>
            <a:ext cx="57626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1800" dirty="0">
                <a:solidFill>
                  <a:schemeClr val="tx1"/>
                </a:solidFill>
              </a:rPr>
              <a:t>Incomplete passes show </a:t>
            </a:r>
            <a:r>
              <a:rPr lang="en-US" altLang="en-US" sz="1800" i="1" dirty="0">
                <a:solidFill>
                  <a:schemeClr val="tx1"/>
                </a:solidFill>
              </a:rPr>
              <a:t>larger </a:t>
            </a:r>
            <a:r>
              <a:rPr lang="en-US" sz="1800" dirty="0"/>
              <a:t>H</a:t>
            </a:r>
            <a:r>
              <a:rPr lang="en-US" sz="1800" baseline="-25000" dirty="0"/>
              <a:t>1 </a:t>
            </a:r>
            <a:r>
              <a:rPr lang="en-US" sz="1800" dirty="0"/>
              <a:t>gaps (counterintuitive)</a:t>
            </a:r>
          </a:p>
          <a:p>
            <a:pPr marL="0" indent="0" eaLnBrk="0" fontAlgn="base" hangingPunct="0">
              <a:lnSpc>
                <a:spcPct val="100000"/>
              </a:lnSpc>
              <a:spcBef>
                <a:spcPct val="0"/>
              </a:spcBef>
              <a:spcAft>
                <a:spcPct val="0"/>
              </a:spcAft>
              <a:buNone/>
            </a:pPr>
            <a:r>
              <a:rPr lang="en-US" altLang="en-US" sz="1800" dirty="0">
                <a:solidFill>
                  <a:schemeClr val="tx1"/>
                </a:solidFill>
              </a:rPr>
              <a:t>&gt; “Bait” zones deliberately created by defenses?</a:t>
            </a:r>
          </a:p>
        </p:txBody>
      </p:sp>
    </p:spTree>
    <p:extLst>
      <p:ext uri="{BB962C8B-B14F-4D97-AF65-F5344CB8AC3E}">
        <p14:creationId xmlns:p14="http://schemas.microsoft.com/office/powerpoint/2010/main" val="3288001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01F8F-7EC2-5E21-BA16-DA8DD522A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88AC5-1AF7-423A-9844-898365E763F8}"/>
              </a:ext>
            </a:extLst>
          </p:cNvPr>
          <p:cNvSpPr>
            <a:spLocks noGrp="1"/>
          </p:cNvSpPr>
          <p:nvPr>
            <p:ph type="title"/>
          </p:nvPr>
        </p:nvSpPr>
        <p:spPr>
          <a:xfrm>
            <a:off x="657224" y="499533"/>
            <a:ext cx="10772775" cy="580602"/>
          </a:xfrm>
        </p:spPr>
        <p:txBody>
          <a:bodyPr>
            <a:normAutofit fontScale="90000"/>
          </a:bodyPr>
          <a:lstStyle/>
          <a:p>
            <a:r>
              <a:rPr lang="en-US" sz="4400" dirty="0"/>
              <a:t>Vectorization – Persistence Landscapes</a:t>
            </a:r>
          </a:p>
        </p:txBody>
      </p:sp>
      <p:pic>
        <p:nvPicPr>
          <p:cNvPr id="5" name="Picture 4" descr="A graph of a mountain&#10;&#10;AI-generated content may be incorrect.">
            <a:extLst>
              <a:ext uri="{FF2B5EF4-FFF2-40B4-BE49-F238E27FC236}">
                <a16:creationId xmlns:a16="http://schemas.microsoft.com/office/drawing/2014/main" id="{9EA46039-D066-D8FF-216A-D293788F1E5A}"/>
              </a:ext>
            </a:extLst>
          </p:cNvPr>
          <p:cNvPicPr>
            <a:picLocks noChangeAspect="1"/>
          </p:cNvPicPr>
          <p:nvPr/>
        </p:nvPicPr>
        <p:blipFill>
          <a:blip r:embed="rId3"/>
          <a:stretch>
            <a:fillRect/>
          </a:stretch>
        </p:blipFill>
        <p:spPr>
          <a:xfrm>
            <a:off x="4809489" y="1689735"/>
            <a:ext cx="7382511" cy="366331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90853E8-EA65-EA1F-7896-60FDD22CF64D}"/>
                  </a:ext>
                </a:extLst>
              </p:cNvPr>
              <p:cNvSpPr txBox="1"/>
              <p:nvPr/>
            </p:nvSpPr>
            <p:spPr>
              <a:xfrm>
                <a:off x="237489" y="1689735"/>
                <a:ext cx="45720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𝜆</m:t>
                          </m:r>
                        </m:e>
                        <m:sub>
                          <m:r>
                            <a:rPr lang="en-US" sz="1600" b="0" i="1" smtClean="0">
                              <a:latin typeface="Cambria Math" panose="02040503050406030204" pitchFamily="18" charset="0"/>
                            </a:rPr>
                            <m:t>𝑘</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𝑘𝑡h</m:t>
                      </m:r>
                      <m:r>
                        <a:rPr lang="en-US" sz="1600" b="0" i="1" smtClean="0">
                          <a:latin typeface="Cambria Math" panose="02040503050406030204" pitchFamily="18" charset="0"/>
                        </a:rPr>
                        <m:t> </m:t>
                      </m:r>
                      <m:r>
                        <a:rPr lang="en-US" sz="1600" b="0" i="1" smtClean="0">
                          <a:latin typeface="Cambria Math" panose="02040503050406030204" pitchFamily="18" charset="0"/>
                        </a:rPr>
                        <m:t>𝑙𝑎𝑟𝑔𝑒𝑠𝑡</m:t>
                      </m:r>
                      <m:r>
                        <a:rPr lang="en-US" sz="1600" b="0" i="1" smtClean="0">
                          <a:latin typeface="Cambria Math" panose="02040503050406030204" pitchFamily="18" charset="0"/>
                        </a:rPr>
                        <m:t> </m:t>
                      </m:r>
                      <m:r>
                        <a:rPr lang="en-US" sz="1600" b="0" i="1" smtClean="0">
                          <a:latin typeface="Cambria Math" panose="02040503050406030204" pitchFamily="18" charset="0"/>
                        </a:rPr>
                        <m:t>𝑣𝑎𝑙𝑢𝑒</m:t>
                      </m:r>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sSup>
                        <m:sSupPr>
                          <m:ctrlPr>
                            <a:rPr lang="en-US" sz="1600" b="0" i="1" smtClean="0">
                              <a:latin typeface="Cambria Math" panose="02040503050406030204" pitchFamily="18" charset="0"/>
                            </a:rPr>
                          </m:ctrlPr>
                        </m:sSupPr>
                        <m:e>
                          <m:r>
                            <m:rPr>
                              <m:sty m:val="p"/>
                            </m:rPr>
                            <a:rPr lang="en-US" sz="1600">
                              <a:latin typeface="Cambria Math" panose="02040503050406030204" pitchFamily="18" charset="0"/>
                            </a:rPr>
                            <m:t>min</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𝑑</m:t>
                              </m:r>
                            </m:e>
                            <m:sub>
                              <m:r>
                                <a:rPr lang="en-US" sz="1600" i="1">
                                  <a:latin typeface="Cambria Math" panose="02040503050406030204" pitchFamily="18" charset="0"/>
                                </a:rPr>
                                <m:t>𝑖</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e>
                        <m:sup>
                          <m:r>
                            <a:rPr lang="en-US" sz="1600" b="0" i="1" smtClean="0">
                              <a:latin typeface="Cambria Math" panose="02040503050406030204" pitchFamily="18" charset="0"/>
                            </a:rPr>
                            <m:t>+</m:t>
                          </m:r>
                        </m:sup>
                      </m:sSup>
                    </m:oMath>
                  </m:oMathPara>
                </a14:m>
                <a:endParaRPr lang="en-US" sz="1600" dirty="0"/>
              </a:p>
            </p:txBody>
          </p:sp>
        </mc:Choice>
        <mc:Fallback xmlns="">
          <p:sp>
            <p:nvSpPr>
              <p:cNvPr id="6" name="TextBox 5">
                <a:extLst>
                  <a:ext uri="{FF2B5EF4-FFF2-40B4-BE49-F238E27FC236}">
                    <a16:creationId xmlns:a16="http://schemas.microsoft.com/office/drawing/2014/main" id="{790853E8-EA65-EA1F-7896-60FDD22CF64D}"/>
                  </a:ext>
                </a:extLst>
              </p:cNvPr>
              <p:cNvSpPr txBox="1">
                <a:spLocks noRot="1" noChangeAspect="1" noMove="1" noResize="1" noEditPoints="1" noAdjustHandles="1" noChangeArrowheads="1" noChangeShapeType="1" noTextEdit="1"/>
              </p:cNvSpPr>
              <p:nvPr/>
            </p:nvSpPr>
            <p:spPr>
              <a:xfrm>
                <a:off x="237489" y="1689735"/>
                <a:ext cx="4572000" cy="246221"/>
              </a:xfrm>
              <a:prstGeom prst="rect">
                <a:avLst/>
              </a:prstGeom>
              <a:blipFill>
                <a:blip r:embed="rId4"/>
                <a:stretch>
                  <a:fillRect b="-31707"/>
                </a:stretch>
              </a:blipFill>
            </p:spPr>
            <p:txBody>
              <a:bodyPr/>
              <a:lstStyle/>
              <a:p>
                <a:r>
                  <a:rPr lang="en-US">
                    <a:noFill/>
                  </a:rPr>
                  <a:t> </a:t>
                </a:r>
              </a:p>
            </p:txBody>
          </p:sp>
        </mc:Fallback>
      </mc:AlternateContent>
      <p:sp>
        <p:nvSpPr>
          <p:cNvPr id="7" name="Rectangle 1">
            <a:extLst>
              <a:ext uri="{FF2B5EF4-FFF2-40B4-BE49-F238E27FC236}">
                <a16:creationId xmlns:a16="http://schemas.microsoft.com/office/drawing/2014/main" id="{20CE3CEC-BAA8-1E85-1DB9-8D62BC595968}"/>
              </a:ext>
            </a:extLst>
          </p:cNvPr>
          <p:cNvSpPr>
            <a:spLocks noGrp="1" noChangeArrowheads="1"/>
          </p:cNvSpPr>
          <p:nvPr>
            <p:ph idx="1"/>
          </p:nvPr>
        </p:nvSpPr>
        <p:spPr bwMode="auto">
          <a:xfrm>
            <a:off x="676276" y="2370402"/>
            <a:ext cx="3962400"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rPr>
              <a:t>Landscapes live in a Banach space</a:t>
            </a:r>
          </a:p>
          <a:p>
            <a:pPr marL="256032" lvl="1" indent="0" eaLnBrk="0" fontAlgn="base" hangingPunct="0">
              <a:lnSpc>
                <a:spcPct val="100000"/>
              </a:lnSpc>
              <a:spcBef>
                <a:spcPct val="0"/>
              </a:spcBef>
              <a:spcAft>
                <a:spcPct val="0"/>
              </a:spcAft>
              <a:buFontTx/>
              <a:buChar char="•"/>
            </a:pPr>
            <a:r>
              <a:rPr lang="en-US" altLang="en-US" sz="1600" dirty="0">
                <a:solidFill>
                  <a:schemeClr val="tx1"/>
                </a:solidFill>
              </a:rPr>
              <a:t>Can compute means, variances</a:t>
            </a:r>
          </a:p>
          <a:p>
            <a:pPr marL="0" indent="0" eaLnBrk="0" fontAlgn="base" hangingPunct="0">
              <a:lnSpc>
                <a:spcPct val="100000"/>
              </a:lnSpc>
              <a:spcBef>
                <a:spcPct val="0"/>
              </a:spcBef>
              <a:spcAft>
                <a:spcPct val="0"/>
              </a:spcAft>
              <a:buFontTx/>
              <a:buChar char="•"/>
            </a:pPr>
            <a:r>
              <a:rPr lang="en-US" altLang="en-US" sz="1800" dirty="0">
                <a:solidFill>
                  <a:srgbClr val="007F00"/>
                </a:solidFill>
              </a:rPr>
              <a:t>Complete</a:t>
            </a:r>
            <a:r>
              <a:rPr lang="en-US" altLang="en-US" sz="1800" dirty="0">
                <a:solidFill>
                  <a:schemeClr val="tx1"/>
                </a:solidFill>
              </a:rPr>
              <a:t> passes show lower landscape values than </a:t>
            </a:r>
            <a:r>
              <a:rPr lang="en-US" altLang="en-US" sz="1800" dirty="0">
                <a:solidFill>
                  <a:srgbClr val="FF1313"/>
                </a:solidFill>
              </a:rPr>
              <a:t>incomplete</a:t>
            </a:r>
          </a:p>
          <a:p>
            <a:pPr marL="0" indent="0" eaLnBrk="0" fontAlgn="base" hangingPunct="0">
              <a:lnSpc>
                <a:spcPct val="100000"/>
              </a:lnSpc>
              <a:spcBef>
                <a:spcPct val="0"/>
              </a:spcBef>
              <a:spcAft>
                <a:spcPct val="0"/>
              </a:spcAft>
              <a:buFontTx/>
              <a:buChar char="•"/>
            </a:pPr>
            <a:r>
              <a:rPr lang="en-US" altLang="en-US" sz="1800" dirty="0">
                <a:solidFill>
                  <a:schemeClr val="tx1"/>
                </a:solidFill>
              </a:rPr>
              <a:t>Peak difference occurs around 16.2-yard scale</a:t>
            </a:r>
          </a:p>
          <a:p>
            <a:pPr marL="0" indent="0" eaLnBrk="0" fontAlgn="base" hangingPunct="0">
              <a:lnSpc>
                <a:spcPct val="100000"/>
              </a:lnSpc>
              <a:spcBef>
                <a:spcPct val="0"/>
              </a:spcBef>
              <a:spcAft>
                <a:spcPct val="0"/>
              </a:spcAft>
              <a:buFontTx/>
              <a:buChar char="•"/>
            </a:pPr>
            <a:r>
              <a:rPr lang="en-US" altLang="en-US" sz="1800" dirty="0">
                <a:solidFill>
                  <a:schemeClr val="tx1"/>
                </a:solidFill>
              </a:rPr>
              <a:t>Scale corresponds to typical intermediate route depth</a:t>
            </a:r>
          </a:p>
        </p:txBody>
      </p:sp>
    </p:spTree>
    <p:extLst>
      <p:ext uri="{BB962C8B-B14F-4D97-AF65-F5344CB8AC3E}">
        <p14:creationId xmlns:p14="http://schemas.microsoft.com/office/powerpoint/2010/main" val="4079015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E7120-5C0A-6028-0D5D-66CA661EF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1E9E1-4780-A347-D66F-F2763A491DD3}"/>
              </a:ext>
            </a:extLst>
          </p:cNvPr>
          <p:cNvSpPr>
            <a:spLocks noGrp="1"/>
          </p:cNvSpPr>
          <p:nvPr>
            <p:ph type="title"/>
          </p:nvPr>
        </p:nvSpPr>
        <p:spPr>
          <a:xfrm>
            <a:off x="657224" y="499533"/>
            <a:ext cx="10772775" cy="580602"/>
          </a:xfrm>
        </p:spPr>
        <p:txBody>
          <a:bodyPr>
            <a:normAutofit fontScale="90000"/>
          </a:bodyPr>
          <a:lstStyle/>
          <a:p>
            <a:r>
              <a:rPr lang="en-US" sz="4400" dirty="0"/>
              <a:t>Temporal TDA: Coverage evolving during play</a:t>
            </a:r>
          </a:p>
        </p:txBody>
      </p:sp>
      <p:pic>
        <p:nvPicPr>
          <p:cNvPr id="5" name="Picture 4" descr="A graph of a graph of a gas court time&#10;&#10;AI-generated content may be incorrect.">
            <a:extLst>
              <a:ext uri="{FF2B5EF4-FFF2-40B4-BE49-F238E27FC236}">
                <a16:creationId xmlns:a16="http://schemas.microsoft.com/office/drawing/2014/main" id="{54AA1BC2-FAA4-2757-0CB2-8A11DEDBDFA1}"/>
              </a:ext>
            </a:extLst>
          </p:cNvPr>
          <p:cNvPicPr>
            <a:picLocks noChangeAspect="1"/>
          </p:cNvPicPr>
          <p:nvPr/>
        </p:nvPicPr>
        <p:blipFill>
          <a:blip r:embed="rId3"/>
          <a:stretch>
            <a:fillRect/>
          </a:stretch>
        </p:blipFill>
        <p:spPr>
          <a:xfrm>
            <a:off x="4343400" y="1267990"/>
            <a:ext cx="7848600" cy="5590010"/>
          </a:xfrm>
          <a:prstGeom prst="rect">
            <a:avLst/>
          </a:prstGeom>
        </p:spPr>
      </p:pic>
      <p:sp>
        <p:nvSpPr>
          <p:cNvPr id="6" name="Rectangle 1">
            <a:extLst>
              <a:ext uri="{FF2B5EF4-FFF2-40B4-BE49-F238E27FC236}">
                <a16:creationId xmlns:a16="http://schemas.microsoft.com/office/drawing/2014/main" id="{9A3A5303-69CC-083C-426B-CE94D0AAC353}"/>
              </a:ext>
            </a:extLst>
          </p:cNvPr>
          <p:cNvSpPr>
            <a:spLocks noGrp="1" noChangeArrowheads="1"/>
          </p:cNvSpPr>
          <p:nvPr>
            <p:ph idx="1"/>
          </p:nvPr>
        </p:nvSpPr>
        <p:spPr bwMode="auto">
          <a:xfrm>
            <a:off x="676276" y="2093405"/>
            <a:ext cx="3295649"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Arial" panose="020B0604020202020204" pitchFamily="34" charset="0"/>
              <a:buChar char="•"/>
            </a:pPr>
            <a:r>
              <a:rPr lang="en-US" sz="1800" dirty="0"/>
              <a:t>H</a:t>
            </a:r>
            <a:r>
              <a:rPr lang="en-US" sz="1800" baseline="-25000" dirty="0"/>
              <a:t>1 </a:t>
            </a:r>
            <a:r>
              <a:rPr lang="en-US" sz="1800" dirty="0"/>
              <a:t>gaps </a:t>
            </a:r>
            <a:r>
              <a:rPr lang="en-US" sz="1800" b="1" dirty="0"/>
              <a:t>decrease</a:t>
            </a:r>
            <a:r>
              <a:rPr lang="en-US" sz="1800" dirty="0"/>
              <a:t> from snap to pass</a:t>
            </a:r>
          </a:p>
          <a:p>
            <a:pPr marL="256032" lvl="1" indent="0" eaLnBrk="0" fontAlgn="base" hangingPunct="0">
              <a:lnSpc>
                <a:spcPct val="100000"/>
              </a:lnSpc>
              <a:spcBef>
                <a:spcPct val="0"/>
              </a:spcBef>
              <a:spcAft>
                <a:spcPct val="0"/>
              </a:spcAft>
              <a:buFontTx/>
              <a:buChar char="•"/>
            </a:pPr>
            <a:r>
              <a:rPr lang="en-US" altLang="en-US" sz="1600" dirty="0">
                <a:solidFill>
                  <a:schemeClr val="tx1"/>
                </a:solidFill>
              </a:rPr>
              <a:t>0.83 </a:t>
            </a:r>
            <a:r>
              <a:rPr lang="en-US" sz="1600" dirty="0"/>
              <a:t>→ 0.40 for completions</a:t>
            </a:r>
            <a:r>
              <a:rPr lang="en-US" sz="1800" dirty="0"/>
              <a:t> </a:t>
            </a:r>
          </a:p>
          <a:p>
            <a:pPr eaLnBrk="0" fontAlgn="base" hangingPunct="0">
              <a:lnSpc>
                <a:spcPct val="100000"/>
              </a:lnSpc>
              <a:spcBef>
                <a:spcPct val="0"/>
              </a:spcBef>
              <a:spcAft>
                <a:spcPct val="0"/>
              </a:spcAft>
              <a:buFont typeface="Arial" panose="020B0604020202020204" pitchFamily="34" charset="0"/>
              <a:buChar char="•"/>
            </a:pPr>
            <a:r>
              <a:rPr lang="en-US" sz="1800" dirty="0"/>
              <a:t>Complete passes maintain larger gaps throughout</a:t>
            </a:r>
          </a:p>
          <a:p>
            <a:pPr eaLnBrk="0" fontAlgn="base" hangingPunct="0">
              <a:lnSpc>
                <a:spcPct val="100000"/>
              </a:lnSpc>
              <a:spcBef>
                <a:spcPct val="0"/>
              </a:spcBef>
              <a:spcAft>
                <a:spcPct val="0"/>
              </a:spcAft>
              <a:buFont typeface="Arial" panose="020B0604020202020204" pitchFamily="34" charset="0"/>
              <a:buChar char="•"/>
            </a:pPr>
            <a:r>
              <a:rPr lang="en-US" sz="1800" dirty="0"/>
              <a:t>H</a:t>
            </a:r>
            <a:r>
              <a:rPr lang="en-US" sz="1800" baseline="-25000" dirty="0"/>
              <a:t>1 </a:t>
            </a:r>
            <a:r>
              <a:rPr lang="en-US" sz="1800" dirty="0"/>
              <a:t>components stable (13.7), clustering structure preserved</a:t>
            </a:r>
          </a:p>
          <a:p>
            <a:pPr eaLnBrk="0" fontAlgn="base" hangingPunct="0">
              <a:lnSpc>
                <a:spcPct val="100000"/>
              </a:lnSpc>
              <a:spcBef>
                <a:spcPct val="0"/>
              </a:spcBef>
              <a:spcAft>
                <a:spcPct val="0"/>
              </a:spcAft>
              <a:buFont typeface="Arial" panose="020B0604020202020204" pitchFamily="34" charset="0"/>
              <a:buChar char="•"/>
            </a:pPr>
            <a:r>
              <a:rPr lang="en-US" sz="1800" dirty="0"/>
              <a:t>Gap probability:</a:t>
            </a:r>
          </a:p>
          <a:p>
            <a:pPr marL="256032" lvl="1" indent="0" eaLnBrk="0" fontAlgn="base" hangingPunct="0">
              <a:lnSpc>
                <a:spcPct val="100000"/>
              </a:lnSpc>
              <a:spcBef>
                <a:spcPct val="0"/>
              </a:spcBef>
              <a:spcAft>
                <a:spcPct val="0"/>
              </a:spcAft>
              <a:buFontTx/>
              <a:buChar char="•"/>
            </a:pPr>
            <a:r>
              <a:rPr lang="en-US" altLang="en-US" sz="1600" dirty="0">
                <a:solidFill>
                  <a:srgbClr val="007F00"/>
                </a:solidFill>
              </a:rPr>
              <a:t>Complete</a:t>
            </a:r>
            <a:r>
              <a:rPr lang="en-US" altLang="en-US" sz="1600" dirty="0">
                <a:solidFill>
                  <a:schemeClr val="tx1"/>
                </a:solidFill>
              </a:rPr>
              <a:t>: 44% </a:t>
            </a:r>
            <a:r>
              <a:rPr lang="en-US" sz="1600" dirty="0"/>
              <a:t>→ 27% at pass</a:t>
            </a:r>
            <a:r>
              <a:rPr lang="en-US" sz="1800" dirty="0"/>
              <a:t> </a:t>
            </a:r>
          </a:p>
          <a:p>
            <a:pPr marL="256032" lvl="1" indent="0" eaLnBrk="0" fontAlgn="base" hangingPunct="0">
              <a:lnSpc>
                <a:spcPct val="100000"/>
              </a:lnSpc>
              <a:spcBef>
                <a:spcPct val="0"/>
              </a:spcBef>
              <a:spcAft>
                <a:spcPct val="0"/>
              </a:spcAft>
              <a:buFontTx/>
              <a:buChar char="•"/>
            </a:pPr>
            <a:r>
              <a:rPr lang="en-US" altLang="en-US" sz="1600" dirty="0">
                <a:solidFill>
                  <a:srgbClr val="FF1313"/>
                </a:solidFill>
              </a:rPr>
              <a:t>Incomplete</a:t>
            </a:r>
            <a:r>
              <a:rPr lang="en-US" altLang="en-US" sz="1600" dirty="0">
                <a:solidFill>
                  <a:schemeClr val="tx1"/>
                </a:solidFill>
              </a:rPr>
              <a:t>: 38% </a:t>
            </a:r>
            <a:r>
              <a:rPr lang="en-US" sz="1600" dirty="0"/>
              <a:t>→ 19% at pass </a:t>
            </a:r>
          </a:p>
        </p:txBody>
      </p:sp>
      <p:sp>
        <p:nvSpPr>
          <p:cNvPr id="7" name="Rectangle 1">
            <a:extLst>
              <a:ext uri="{FF2B5EF4-FFF2-40B4-BE49-F238E27FC236}">
                <a16:creationId xmlns:a16="http://schemas.microsoft.com/office/drawing/2014/main" id="{C763D4DE-FD24-8535-ED0E-9DAA64719021}"/>
              </a:ext>
            </a:extLst>
          </p:cNvPr>
          <p:cNvSpPr txBox="1">
            <a:spLocks noChangeArrowheads="1"/>
          </p:cNvSpPr>
          <p:nvPr/>
        </p:nvSpPr>
        <p:spPr bwMode="auto">
          <a:xfrm>
            <a:off x="328611" y="5243863"/>
            <a:ext cx="3829051"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eaLnBrk="0" fontAlgn="base" hangingPunct="0">
              <a:lnSpc>
                <a:spcPct val="100000"/>
              </a:lnSpc>
              <a:spcBef>
                <a:spcPct val="0"/>
              </a:spcBef>
              <a:spcAft>
                <a:spcPct val="0"/>
              </a:spcAft>
              <a:buNone/>
            </a:pPr>
            <a:r>
              <a:rPr lang="en-US" sz="1800" b="1" dirty="0"/>
              <a:t>Defenses close gaps as plays develop</a:t>
            </a:r>
          </a:p>
          <a:p>
            <a:pPr marL="0" indent="0" eaLnBrk="0" fontAlgn="base" hangingPunct="0">
              <a:lnSpc>
                <a:spcPct val="100000"/>
              </a:lnSpc>
              <a:spcBef>
                <a:spcPct val="0"/>
              </a:spcBef>
              <a:spcAft>
                <a:spcPct val="0"/>
              </a:spcAft>
              <a:buNone/>
            </a:pPr>
            <a:endParaRPr lang="en-US" sz="1800" b="1" dirty="0"/>
          </a:p>
          <a:p>
            <a:pPr marL="0" indent="0" eaLnBrk="0" fontAlgn="base" hangingPunct="0">
              <a:lnSpc>
                <a:spcPct val="100000"/>
              </a:lnSpc>
              <a:spcBef>
                <a:spcPct val="0"/>
              </a:spcBef>
              <a:spcAft>
                <a:spcPct val="0"/>
              </a:spcAft>
              <a:buNone/>
            </a:pPr>
            <a:r>
              <a:rPr lang="en-US" sz="1800" b="1" dirty="0"/>
              <a:t>Successful passes exploit early-forming holes</a:t>
            </a:r>
            <a:endParaRPr lang="en-US" sz="1600" b="1" dirty="0"/>
          </a:p>
        </p:txBody>
      </p:sp>
    </p:spTree>
    <p:extLst>
      <p:ext uri="{BB962C8B-B14F-4D97-AF65-F5344CB8AC3E}">
        <p14:creationId xmlns:p14="http://schemas.microsoft.com/office/powerpoint/2010/main" val="539040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ow To Install Zone Coverage &amp; Man Coverage In Football - vIQtory Sports">
            <a:extLst>
              <a:ext uri="{FF2B5EF4-FFF2-40B4-BE49-F238E27FC236}">
                <a16:creationId xmlns:a16="http://schemas.microsoft.com/office/drawing/2014/main" id="{B98462CC-5400-EAD3-2B99-D09464B93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7038"/>
            <a:ext cx="12192000" cy="60039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2147699-D4A2-56B7-2358-07149D74908C}"/>
              </a:ext>
            </a:extLst>
          </p:cNvPr>
          <p:cNvSpPr txBox="1"/>
          <p:nvPr/>
        </p:nvSpPr>
        <p:spPr>
          <a:xfrm>
            <a:off x="2399071" y="5073446"/>
            <a:ext cx="698090" cy="369332"/>
          </a:xfrm>
          <a:prstGeom prst="rect">
            <a:avLst/>
          </a:prstGeom>
          <a:noFill/>
        </p:spPr>
        <p:txBody>
          <a:bodyPr wrap="square" rtlCol="0">
            <a:spAutoFit/>
          </a:bodyPr>
          <a:lstStyle/>
          <a:p>
            <a:r>
              <a:rPr lang="en-US" b="1" dirty="0">
                <a:solidFill>
                  <a:srgbClr val="FF1313"/>
                </a:solidFill>
              </a:rPr>
              <a:t>Zone</a:t>
            </a:r>
          </a:p>
        </p:txBody>
      </p:sp>
      <p:sp>
        <p:nvSpPr>
          <p:cNvPr id="3" name="TextBox 2">
            <a:extLst>
              <a:ext uri="{FF2B5EF4-FFF2-40B4-BE49-F238E27FC236}">
                <a16:creationId xmlns:a16="http://schemas.microsoft.com/office/drawing/2014/main" id="{7821B867-74D8-09E9-CCD6-96F99619AEB9}"/>
              </a:ext>
            </a:extLst>
          </p:cNvPr>
          <p:cNvSpPr txBox="1"/>
          <p:nvPr/>
        </p:nvSpPr>
        <p:spPr>
          <a:xfrm>
            <a:off x="1217971" y="2330246"/>
            <a:ext cx="698090" cy="369332"/>
          </a:xfrm>
          <a:prstGeom prst="rect">
            <a:avLst/>
          </a:prstGeom>
          <a:noFill/>
        </p:spPr>
        <p:txBody>
          <a:bodyPr wrap="square" rtlCol="0">
            <a:spAutoFit/>
          </a:bodyPr>
          <a:lstStyle/>
          <a:p>
            <a:r>
              <a:rPr lang="en-US" b="1" dirty="0">
                <a:solidFill>
                  <a:srgbClr val="FF1313"/>
                </a:solidFill>
              </a:rPr>
              <a:t>Man</a:t>
            </a:r>
          </a:p>
        </p:txBody>
      </p:sp>
    </p:spTree>
    <p:extLst>
      <p:ext uri="{BB962C8B-B14F-4D97-AF65-F5344CB8AC3E}">
        <p14:creationId xmlns:p14="http://schemas.microsoft.com/office/powerpoint/2010/main" val="3570903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2746-BB64-2F3B-CE79-A6FCC89B8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C133E-BB12-0556-5020-8A0E58099032}"/>
              </a:ext>
            </a:extLst>
          </p:cNvPr>
          <p:cNvSpPr>
            <a:spLocks noGrp="1"/>
          </p:cNvSpPr>
          <p:nvPr>
            <p:ph type="title"/>
          </p:nvPr>
        </p:nvSpPr>
        <p:spPr>
          <a:xfrm>
            <a:off x="657224" y="499533"/>
            <a:ext cx="10772775" cy="580602"/>
          </a:xfrm>
        </p:spPr>
        <p:txBody>
          <a:bodyPr>
            <a:normAutofit fontScale="90000"/>
          </a:bodyPr>
          <a:lstStyle/>
          <a:p>
            <a:r>
              <a:rPr lang="en-US" sz="4400" dirty="0"/>
              <a:t>Zone v. Man Coverage</a:t>
            </a:r>
          </a:p>
        </p:txBody>
      </p:sp>
      <p:pic>
        <p:nvPicPr>
          <p:cNvPr id="8" name="Picture 7" descr="A graph with a number of blue and red bars&#10;&#10;AI-generated content may be incorrect.">
            <a:extLst>
              <a:ext uri="{FF2B5EF4-FFF2-40B4-BE49-F238E27FC236}">
                <a16:creationId xmlns:a16="http://schemas.microsoft.com/office/drawing/2014/main" id="{10AC1690-4AC9-0E89-6B02-C70334383516}"/>
              </a:ext>
            </a:extLst>
          </p:cNvPr>
          <p:cNvPicPr>
            <a:picLocks noChangeAspect="1"/>
          </p:cNvPicPr>
          <p:nvPr/>
        </p:nvPicPr>
        <p:blipFill>
          <a:blip r:embed="rId3"/>
          <a:stretch>
            <a:fillRect/>
          </a:stretch>
        </p:blipFill>
        <p:spPr>
          <a:xfrm>
            <a:off x="0" y="1280160"/>
            <a:ext cx="12192000" cy="3371531"/>
          </a:xfrm>
          <a:prstGeom prst="rect">
            <a:avLst/>
          </a:prstGeom>
        </p:spPr>
      </p:pic>
      <p:graphicFrame>
        <p:nvGraphicFramePr>
          <p:cNvPr id="9" name="Table 8">
            <a:extLst>
              <a:ext uri="{FF2B5EF4-FFF2-40B4-BE49-F238E27FC236}">
                <a16:creationId xmlns:a16="http://schemas.microsoft.com/office/drawing/2014/main" id="{49B29E75-8EC9-C7CE-3B74-D9004B2BBCAC}"/>
              </a:ext>
            </a:extLst>
          </p:cNvPr>
          <p:cNvGraphicFramePr>
            <a:graphicFrameLocks noGrp="1"/>
          </p:cNvGraphicFramePr>
          <p:nvPr>
            <p:extLst>
              <p:ext uri="{D42A27DB-BD31-4B8C-83A1-F6EECF244321}">
                <p14:modId xmlns:p14="http://schemas.microsoft.com/office/powerpoint/2010/main" val="2942878684"/>
              </p:ext>
            </p:extLst>
          </p:nvPr>
        </p:nvGraphicFramePr>
        <p:xfrm>
          <a:off x="279400" y="4851716"/>
          <a:ext cx="2863850" cy="1854200"/>
        </p:xfrm>
        <a:graphic>
          <a:graphicData uri="http://schemas.openxmlformats.org/drawingml/2006/table">
            <a:tbl>
              <a:tblPr firstRow="1" bandRow="1">
                <a:tableStyleId>{5C22544A-7EE6-4342-B048-85BDC9FD1C3A}</a:tableStyleId>
              </a:tblPr>
              <a:tblGrid>
                <a:gridCol w="1431925">
                  <a:extLst>
                    <a:ext uri="{9D8B030D-6E8A-4147-A177-3AD203B41FA5}">
                      <a16:colId xmlns:a16="http://schemas.microsoft.com/office/drawing/2014/main" val="762568873"/>
                    </a:ext>
                  </a:extLst>
                </a:gridCol>
                <a:gridCol w="1431925">
                  <a:extLst>
                    <a:ext uri="{9D8B030D-6E8A-4147-A177-3AD203B41FA5}">
                      <a16:colId xmlns:a16="http://schemas.microsoft.com/office/drawing/2014/main" val="1729477422"/>
                    </a:ext>
                  </a:extLst>
                </a:gridCol>
              </a:tblGrid>
              <a:tr h="370840">
                <a:tc gridSpan="2">
                  <a:txBody>
                    <a:bodyPr/>
                    <a:lstStyle/>
                    <a:p>
                      <a:r>
                        <a:rPr lang="en-US" sz="1400" b="1" i="0" kern="1200" dirty="0">
                          <a:solidFill>
                            <a:schemeClr val="lt1"/>
                          </a:solidFill>
                          <a:effectLst/>
                          <a:latin typeface="+mn-lt"/>
                          <a:ea typeface="+mn-ea"/>
                          <a:cs typeface="+mn-cs"/>
                        </a:rPr>
                        <a:t>ZONE Coverage: 4695 plays (26.5%)</a:t>
                      </a:r>
                      <a:endParaRPr lang="en-US" sz="1400" b="1" dirty="0"/>
                    </a:p>
                  </a:txBody>
                  <a:tcPr/>
                </a:tc>
                <a:tc hMerge="1">
                  <a:txBody>
                    <a:bodyPr/>
                    <a:lstStyle/>
                    <a:p>
                      <a:endParaRPr lang="en-US" dirty="0"/>
                    </a:p>
                  </a:txBody>
                  <a:tcPr/>
                </a:tc>
                <a:extLst>
                  <a:ext uri="{0D108BD9-81ED-4DB2-BD59-A6C34878D82A}">
                    <a16:rowId xmlns:a16="http://schemas.microsoft.com/office/drawing/2014/main" val="537412442"/>
                  </a:ext>
                </a:extLst>
              </a:tr>
              <a:tr h="370840">
                <a:tc>
                  <a:txBody>
                    <a:bodyPr/>
                    <a:lstStyle/>
                    <a:p>
                      <a:r>
                        <a:rPr lang="en-US" sz="1400" dirty="0"/>
                        <a:t>H</a:t>
                      </a:r>
                      <a:r>
                        <a:rPr lang="en-US" sz="1400" baseline="-25000" dirty="0"/>
                        <a:t>1 </a:t>
                      </a:r>
                      <a:r>
                        <a:rPr lang="en-US" sz="1400" dirty="0"/>
                        <a:t>features </a:t>
                      </a:r>
                    </a:p>
                  </a:txBody>
                  <a:tcPr/>
                </a:tc>
                <a:tc>
                  <a:txBody>
                    <a:bodyPr/>
                    <a:lstStyle/>
                    <a:p>
                      <a:r>
                        <a:rPr lang="en-US" sz="1400" b="0" i="0" kern="1200" dirty="0">
                          <a:solidFill>
                            <a:schemeClr val="dk1"/>
                          </a:solidFill>
                          <a:effectLst/>
                          <a:latin typeface="+mn-lt"/>
                          <a:ea typeface="+mn-ea"/>
                          <a:cs typeface="+mn-cs"/>
                        </a:rPr>
                        <a:t>1.156 gaps/play</a:t>
                      </a:r>
                      <a:endParaRPr lang="en-US" sz="1400" dirty="0"/>
                    </a:p>
                  </a:txBody>
                  <a:tcPr/>
                </a:tc>
                <a:extLst>
                  <a:ext uri="{0D108BD9-81ED-4DB2-BD59-A6C34878D82A}">
                    <a16:rowId xmlns:a16="http://schemas.microsoft.com/office/drawing/2014/main" val="3466048620"/>
                  </a:ext>
                </a:extLst>
              </a:tr>
              <a:tr h="370840">
                <a:tc>
                  <a:txBody>
                    <a:bodyPr/>
                    <a:lstStyle/>
                    <a:p>
                      <a:r>
                        <a:rPr lang="en-US" sz="1400" b="0" i="0" kern="1200" dirty="0">
                          <a:solidFill>
                            <a:schemeClr val="dk1"/>
                          </a:solidFill>
                          <a:effectLst/>
                          <a:latin typeface="+mn-lt"/>
                          <a:ea typeface="+mn-ea"/>
                          <a:cs typeface="+mn-cs"/>
                        </a:rPr>
                        <a:t>Max persistence</a:t>
                      </a:r>
                      <a:endParaRPr lang="en-US" sz="1400" dirty="0"/>
                    </a:p>
                  </a:txBody>
                  <a:tcPr/>
                </a:tc>
                <a:tc>
                  <a:txBody>
                    <a:bodyPr/>
                    <a:lstStyle/>
                    <a:p>
                      <a:r>
                        <a:rPr lang="en-US" sz="1400" b="0" i="0" kern="1200" dirty="0">
                          <a:solidFill>
                            <a:schemeClr val="dk1"/>
                          </a:solidFill>
                          <a:effectLst/>
                          <a:latin typeface="+mn-lt"/>
                          <a:ea typeface="+mn-ea"/>
                          <a:cs typeface="+mn-cs"/>
                        </a:rPr>
                        <a:t>1.941 yards</a:t>
                      </a:r>
                      <a:endParaRPr lang="en-US" sz="1400" dirty="0"/>
                    </a:p>
                  </a:txBody>
                  <a:tcPr/>
                </a:tc>
                <a:extLst>
                  <a:ext uri="{0D108BD9-81ED-4DB2-BD59-A6C34878D82A}">
                    <a16:rowId xmlns:a16="http://schemas.microsoft.com/office/drawing/2014/main" val="2994229597"/>
                  </a:ext>
                </a:extLst>
              </a:tr>
              <a:tr h="370840">
                <a:tc>
                  <a:txBody>
                    <a:bodyPr/>
                    <a:lstStyle/>
                    <a:p>
                      <a:r>
                        <a:rPr lang="en-US" sz="1400" b="0" i="0" kern="1200" dirty="0">
                          <a:solidFill>
                            <a:schemeClr val="dk1"/>
                          </a:solidFill>
                          <a:effectLst/>
                          <a:latin typeface="+mn-lt"/>
                          <a:ea typeface="+mn-ea"/>
                          <a:cs typeface="+mn-cs"/>
                        </a:rPr>
                        <a:t>Avg persistence</a:t>
                      </a:r>
                      <a:endParaRPr lang="en-US" sz="1400" dirty="0"/>
                    </a:p>
                  </a:txBody>
                  <a:tcPr/>
                </a:tc>
                <a:tc>
                  <a:txBody>
                    <a:bodyPr/>
                    <a:lstStyle/>
                    <a:p>
                      <a:r>
                        <a:rPr lang="en-US" sz="1400" b="0" i="0" kern="1200" dirty="0">
                          <a:solidFill>
                            <a:schemeClr val="dk1"/>
                          </a:solidFill>
                          <a:effectLst/>
                          <a:latin typeface="+mn-lt"/>
                          <a:ea typeface="+mn-ea"/>
                          <a:cs typeface="+mn-cs"/>
                        </a:rPr>
                        <a:t>1.853 yards</a:t>
                      </a:r>
                      <a:endParaRPr lang="en-US" sz="1400" dirty="0"/>
                    </a:p>
                  </a:txBody>
                  <a:tcPr/>
                </a:tc>
                <a:extLst>
                  <a:ext uri="{0D108BD9-81ED-4DB2-BD59-A6C34878D82A}">
                    <a16:rowId xmlns:a16="http://schemas.microsoft.com/office/drawing/2014/main" val="3463088787"/>
                  </a:ext>
                </a:extLst>
              </a:tr>
              <a:tr h="370840">
                <a:tc>
                  <a:txBody>
                    <a:bodyPr/>
                    <a:lstStyle/>
                    <a:p>
                      <a:r>
                        <a:rPr lang="en-US" sz="1400" dirty="0"/>
                        <a:t>Defenders in box</a:t>
                      </a:r>
                    </a:p>
                  </a:txBody>
                  <a:tcPr/>
                </a:tc>
                <a:tc>
                  <a:txBody>
                    <a:bodyPr/>
                    <a:lstStyle/>
                    <a:p>
                      <a:r>
                        <a:rPr lang="en-US" sz="1400" dirty="0"/>
                        <a:t>5.9</a:t>
                      </a:r>
                    </a:p>
                  </a:txBody>
                  <a:tcPr/>
                </a:tc>
                <a:extLst>
                  <a:ext uri="{0D108BD9-81ED-4DB2-BD59-A6C34878D82A}">
                    <a16:rowId xmlns:a16="http://schemas.microsoft.com/office/drawing/2014/main" val="3464470199"/>
                  </a:ext>
                </a:extLst>
              </a:tr>
            </a:tbl>
          </a:graphicData>
        </a:graphic>
      </p:graphicFrame>
      <p:graphicFrame>
        <p:nvGraphicFramePr>
          <p:cNvPr id="10" name="Table 9">
            <a:extLst>
              <a:ext uri="{FF2B5EF4-FFF2-40B4-BE49-F238E27FC236}">
                <a16:creationId xmlns:a16="http://schemas.microsoft.com/office/drawing/2014/main" id="{27017966-9C56-AD65-3E20-3B81A0ECF005}"/>
              </a:ext>
            </a:extLst>
          </p:cNvPr>
          <p:cNvGraphicFramePr>
            <a:graphicFrameLocks noGrp="1"/>
          </p:cNvGraphicFramePr>
          <p:nvPr>
            <p:extLst>
              <p:ext uri="{D42A27DB-BD31-4B8C-83A1-F6EECF244321}">
                <p14:modId xmlns:p14="http://schemas.microsoft.com/office/powerpoint/2010/main" val="659527764"/>
              </p:ext>
            </p:extLst>
          </p:nvPr>
        </p:nvGraphicFramePr>
        <p:xfrm>
          <a:off x="3365500" y="4851716"/>
          <a:ext cx="2863850" cy="1854200"/>
        </p:xfrm>
        <a:graphic>
          <a:graphicData uri="http://schemas.openxmlformats.org/drawingml/2006/table">
            <a:tbl>
              <a:tblPr firstRow="1" bandRow="1">
                <a:tableStyleId>{5C22544A-7EE6-4342-B048-85BDC9FD1C3A}</a:tableStyleId>
              </a:tblPr>
              <a:tblGrid>
                <a:gridCol w="1431925">
                  <a:extLst>
                    <a:ext uri="{9D8B030D-6E8A-4147-A177-3AD203B41FA5}">
                      <a16:colId xmlns:a16="http://schemas.microsoft.com/office/drawing/2014/main" val="762568873"/>
                    </a:ext>
                  </a:extLst>
                </a:gridCol>
                <a:gridCol w="1431925">
                  <a:extLst>
                    <a:ext uri="{9D8B030D-6E8A-4147-A177-3AD203B41FA5}">
                      <a16:colId xmlns:a16="http://schemas.microsoft.com/office/drawing/2014/main" val="1729477422"/>
                    </a:ext>
                  </a:extLst>
                </a:gridCol>
              </a:tblGrid>
              <a:tr h="370840">
                <a:tc gridSpan="2">
                  <a:txBody>
                    <a:bodyPr/>
                    <a:lstStyle/>
                    <a:p>
                      <a:r>
                        <a:rPr lang="en-US" sz="1400" b="1" i="0" kern="1200" dirty="0">
                          <a:solidFill>
                            <a:schemeClr val="lt1"/>
                          </a:solidFill>
                          <a:effectLst/>
                          <a:latin typeface="+mn-lt"/>
                          <a:ea typeface="+mn-ea"/>
                          <a:cs typeface="+mn-cs"/>
                        </a:rPr>
                        <a:t>MAN Coverage: 12990 plays (73.5%)</a:t>
                      </a:r>
                      <a:endParaRPr lang="en-US" sz="1100" b="1" dirty="0"/>
                    </a:p>
                  </a:txBody>
                  <a:tcPr/>
                </a:tc>
                <a:tc hMerge="1">
                  <a:txBody>
                    <a:bodyPr/>
                    <a:lstStyle/>
                    <a:p>
                      <a:endParaRPr lang="en-US" dirty="0"/>
                    </a:p>
                  </a:txBody>
                  <a:tcPr/>
                </a:tc>
                <a:extLst>
                  <a:ext uri="{0D108BD9-81ED-4DB2-BD59-A6C34878D82A}">
                    <a16:rowId xmlns:a16="http://schemas.microsoft.com/office/drawing/2014/main" val="537412442"/>
                  </a:ext>
                </a:extLst>
              </a:tr>
              <a:tr h="370840">
                <a:tc>
                  <a:txBody>
                    <a:bodyPr/>
                    <a:lstStyle/>
                    <a:p>
                      <a:r>
                        <a:rPr lang="en-US" sz="1400" dirty="0"/>
                        <a:t>H</a:t>
                      </a:r>
                      <a:r>
                        <a:rPr lang="en-US" sz="1400" baseline="-25000" dirty="0"/>
                        <a:t>1 </a:t>
                      </a:r>
                      <a:r>
                        <a:rPr lang="en-US" sz="1400" dirty="0"/>
                        <a:t>features </a:t>
                      </a:r>
                    </a:p>
                  </a:txBody>
                  <a:tcPr/>
                </a:tc>
                <a:tc>
                  <a:txBody>
                    <a:bodyPr/>
                    <a:lstStyle/>
                    <a:p>
                      <a:r>
                        <a:rPr lang="en-US" sz="1400" b="0" i="0" kern="1200" dirty="0">
                          <a:solidFill>
                            <a:schemeClr val="dk1"/>
                          </a:solidFill>
                          <a:effectLst/>
                          <a:latin typeface="+mn-lt"/>
                          <a:ea typeface="+mn-ea"/>
                          <a:cs typeface="+mn-cs"/>
                        </a:rPr>
                        <a:t>0.146 gaps/play </a:t>
                      </a:r>
                      <a:endParaRPr lang="en-US" sz="1400" dirty="0"/>
                    </a:p>
                  </a:txBody>
                  <a:tcPr/>
                </a:tc>
                <a:extLst>
                  <a:ext uri="{0D108BD9-81ED-4DB2-BD59-A6C34878D82A}">
                    <a16:rowId xmlns:a16="http://schemas.microsoft.com/office/drawing/2014/main" val="3466048620"/>
                  </a:ext>
                </a:extLst>
              </a:tr>
              <a:tr h="370840">
                <a:tc>
                  <a:txBody>
                    <a:bodyPr/>
                    <a:lstStyle/>
                    <a:p>
                      <a:r>
                        <a:rPr lang="en-US" sz="1400" b="0" i="0" kern="1200" dirty="0">
                          <a:solidFill>
                            <a:schemeClr val="dk1"/>
                          </a:solidFill>
                          <a:effectLst/>
                          <a:latin typeface="+mn-lt"/>
                          <a:ea typeface="+mn-ea"/>
                          <a:cs typeface="+mn-cs"/>
                        </a:rPr>
                        <a:t>Max persistence</a:t>
                      </a:r>
                      <a:endParaRPr lang="en-US" sz="1400" dirty="0"/>
                    </a:p>
                  </a:txBody>
                  <a:tcPr/>
                </a:tc>
                <a:tc>
                  <a:txBody>
                    <a:bodyPr/>
                    <a:lstStyle/>
                    <a:p>
                      <a:r>
                        <a:rPr lang="en-US" sz="1400" b="0" i="0" kern="1200" dirty="0">
                          <a:solidFill>
                            <a:schemeClr val="dk1"/>
                          </a:solidFill>
                          <a:effectLst/>
                          <a:latin typeface="+mn-lt"/>
                          <a:ea typeface="+mn-ea"/>
                          <a:cs typeface="+mn-cs"/>
                        </a:rPr>
                        <a:t>0.048 yards</a:t>
                      </a:r>
                      <a:endParaRPr lang="en-US" sz="1400" dirty="0"/>
                    </a:p>
                  </a:txBody>
                  <a:tcPr/>
                </a:tc>
                <a:extLst>
                  <a:ext uri="{0D108BD9-81ED-4DB2-BD59-A6C34878D82A}">
                    <a16:rowId xmlns:a16="http://schemas.microsoft.com/office/drawing/2014/main" val="2994229597"/>
                  </a:ext>
                </a:extLst>
              </a:tr>
              <a:tr h="370840">
                <a:tc>
                  <a:txBody>
                    <a:bodyPr/>
                    <a:lstStyle/>
                    <a:p>
                      <a:r>
                        <a:rPr lang="en-US" sz="1400" b="0" i="0" kern="1200" dirty="0">
                          <a:solidFill>
                            <a:schemeClr val="dk1"/>
                          </a:solidFill>
                          <a:effectLst/>
                          <a:latin typeface="+mn-lt"/>
                          <a:ea typeface="+mn-ea"/>
                          <a:cs typeface="+mn-cs"/>
                        </a:rPr>
                        <a:t>Avg persistence</a:t>
                      </a:r>
                      <a:endParaRPr lang="en-US" sz="1400" dirty="0"/>
                    </a:p>
                  </a:txBody>
                  <a:tcPr/>
                </a:tc>
                <a:tc>
                  <a:txBody>
                    <a:bodyPr/>
                    <a:lstStyle/>
                    <a:p>
                      <a:r>
                        <a:rPr lang="en-US" sz="1400" b="0" i="0" kern="1200" dirty="0">
                          <a:solidFill>
                            <a:schemeClr val="dk1"/>
                          </a:solidFill>
                          <a:effectLst/>
                          <a:latin typeface="+mn-lt"/>
                          <a:ea typeface="+mn-ea"/>
                          <a:cs typeface="+mn-cs"/>
                        </a:rPr>
                        <a:t>0.048 yards</a:t>
                      </a:r>
                      <a:endParaRPr lang="en-US" sz="1400" dirty="0"/>
                    </a:p>
                  </a:txBody>
                  <a:tcPr/>
                </a:tc>
                <a:extLst>
                  <a:ext uri="{0D108BD9-81ED-4DB2-BD59-A6C34878D82A}">
                    <a16:rowId xmlns:a16="http://schemas.microsoft.com/office/drawing/2014/main" val="3463088787"/>
                  </a:ext>
                </a:extLst>
              </a:tr>
              <a:tr h="370840">
                <a:tc>
                  <a:txBody>
                    <a:bodyPr/>
                    <a:lstStyle/>
                    <a:p>
                      <a:r>
                        <a:rPr lang="en-US" sz="1400" dirty="0"/>
                        <a:t>Defenders in box</a:t>
                      </a:r>
                    </a:p>
                  </a:txBody>
                  <a:tcPr/>
                </a:tc>
                <a:tc>
                  <a:txBody>
                    <a:bodyPr/>
                    <a:lstStyle/>
                    <a:p>
                      <a:r>
                        <a:rPr lang="en-US" sz="1400" b="0" i="0" kern="1200" dirty="0">
                          <a:solidFill>
                            <a:schemeClr val="dk1"/>
                          </a:solidFill>
                          <a:effectLst/>
                          <a:latin typeface="+mn-lt"/>
                          <a:ea typeface="+mn-ea"/>
                          <a:cs typeface="+mn-cs"/>
                        </a:rPr>
                        <a:t>6.1</a:t>
                      </a:r>
                      <a:endParaRPr lang="en-US" sz="1400" dirty="0"/>
                    </a:p>
                  </a:txBody>
                  <a:tcPr/>
                </a:tc>
                <a:extLst>
                  <a:ext uri="{0D108BD9-81ED-4DB2-BD59-A6C34878D82A}">
                    <a16:rowId xmlns:a16="http://schemas.microsoft.com/office/drawing/2014/main" val="3464470199"/>
                  </a:ext>
                </a:extLst>
              </a:tr>
            </a:tbl>
          </a:graphicData>
        </a:graphic>
      </p:graphicFrame>
      <p:sp>
        <p:nvSpPr>
          <p:cNvPr id="11" name="Rectangle 1">
            <a:extLst>
              <a:ext uri="{FF2B5EF4-FFF2-40B4-BE49-F238E27FC236}">
                <a16:creationId xmlns:a16="http://schemas.microsoft.com/office/drawing/2014/main" id="{D35D92F1-AA85-24C0-701D-0442B8FD2B4A}"/>
              </a:ext>
            </a:extLst>
          </p:cNvPr>
          <p:cNvSpPr txBox="1">
            <a:spLocks noChangeArrowheads="1"/>
          </p:cNvSpPr>
          <p:nvPr/>
        </p:nvSpPr>
        <p:spPr bwMode="auto">
          <a:xfrm>
            <a:off x="7667626" y="5594149"/>
            <a:ext cx="4081462"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eaLnBrk="0" fontAlgn="base" hangingPunct="0">
              <a:lnSpc>
                <a:spcPct val="100000"/>
              </a:lnSpc>
              <a:spcBef>
                <a:spcPct val="0"/>
              </a:spcBef>
              <a:spcAft>
                <a:spcPct val="0"/>
              </a:spcAft>
              <a:buNone/>
            </a:pPr>
            <a:r>
              <a:rPr lang="en-US" sz="1800" b="1" dirty="0"/>
              <a:t>Zone shows 40.8x larger H₁ gaps than Man </a:t>
            </a:r>
            <a:endParaRPr lang="en-US" sz="1600" b="1" dirty="0"/>
          </a:p>
        </p:txBody>
      </p:sp>
    </p:spTree>
    <p:extLst>
      <p:ext uri="{BB962C8B-B14F-4D97-AF65-F5344CB8AC3E}">
        <p14:creationId xmlns:p14="http://schemas.microsoft.com/office/powerpoint/2010/main" val="97795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ECE96-DB1A-F506-1440-895C95F1E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B3BEE-EFC9-944F-C39E-54081A3FE33F}"/>
              </a:ext>
            </a:extLst>
          </p:cNvPr>
          <p:cNvSpPr>
            <a:spLocks noGrp="1"/>
          </p:cNvSpPr>
          <p:nvPr>
            <p:ph type="title"/>
          </p:nvPr>
        </p:nvSpPr>
        <p:spPr>
          <a:xfrm>
            <a:off x="657224" y="499533"/>
            <a:ext cx="10772775" cy="580602"/>
          </a:xfrm>
        </p:spPr>
        <p:txBody>
          <a:bodyPr>
            <a:normAutofit fontScale="90000"/>
          </a:bodyPr>
          <a:lstStyle/>
          <a:p>
            <a:r>
              <a:rPr lang="en-US" sz="4400" dirty="0"/>
              <a:t>Conclusion</a:t>
            </a:r>
          </a:p>
        </p:txBody>
      </p:sp>
      <p:sp>
        <p:nvSpPr>
          <p:cNvPr id="3" name="Content Placeholder 2">
            <a:extLst>
              <a:ext uri="{FF2B5EF4-FFF2-40B4-BE49-F238E27FC236}">
                <a16:creationId xmlns:a16="http://schemas.microsoft.com/office/drawing/2014/main" id="{5B219BBA-AF14-51F6-FEE2-BE382E31607A}"/>
              </a:ext>
            </a:extLst>
          </p:cNvPr>
          <p:cNvSpPr>
            <a:spLocks noGrp="1"/>
          </p:cNvSpPr>
          <p:nvPr>
            <p:ph idx="1"/>
          </p:nvPr>
        </p:nvSpPr>
        <p:spPr>
          <a:xfrm>
            <a:off x="676656" y="1239982"/>
            <a:ext cx="10753725" cy="4537883"/>
          </a:xfrm>
        </p:spPr>
        <p:txBody>
          <a:bodyPr/>
          <a:lstStyle/>
          <a:p>
            <a:r>
              <a:rPr lang="en-US" dirty="0"/>
              <a:t>TDA successfully quantifies coverage structure</a:t>
            </a:r>
          </a:p>
          <a:p>
            <a:pPr lvl="1"/>
            <a:r>
              <a:rPr lang="en-US" sz="2000" dirty="0"/>
              <a:t>H₁ persistence captures "holes" in defensive formations</a:t>
            </a:r>
          </a:p>
          <a:p>
            <a:r>
              <a:rPr lang="en-US" dirty="0"/>
              <a:t>Significant statistical relationship</a:t>
            </a:r>
          </a:p>
          <a:p>
            <a:pPr lvl="1"/>
            <a:r>
              <a:rPr lang="en-US" sz="2000" dirty="0"/>
              <a:t>H₁ features differ between complete/incomplete (p &lt; 0.01)</a:t>
            </a:r>
          </a:p>
          <a:p>
            <a:r>
              <a:rPr lang="en-US" dirty="0"/>
              <a:t>Counter-intuitive direction</a:t>
            </a:r>
          </a:p>
          <a:p>
            <a:pPr lvl="1"/>
            <a:r>
              <a:rPr lang="en-US" sz="2000" dirty="0"/>
              <a:t>Larger gaps correlate with incompletions (defensive deception?)</a:t>
            </a:r>
          </a:p>
          <a:p>
            <a:r>
              <a:rPr lang="en-US" dirty="0"/>
              <a:t>Temporal dynamics matter</a:t>
            </a:r>
          </a:p>
          <a:p>
            <a:pPr lvl="1"/>
            <a:r>
              <a:rPr lang="en-US" sz="2000" dirty="0"/>
              <a:t>Gaps close over time; completions exploit early openings</a:t>
            </a:r>
          </a:p>
          <a:p>
            <a:r>
              <a:rPr lang="en-US" dirty="0"/>
              <a:t>Classify zone vs. man coverage</a:t>
            </a:r>
          </a:p>
        </p:txBody>
      </p:sp>
    </p:spTree>
    <p:extLst>
      <p:ext uri="{BB962C8B-B14F-4D97-AF65-F5344CB8AC3E}">
        <p14:creationId xmlns:p14="http://schemas.microsoft.com/office/powerpoint/2010/main" val="755925477"/>
      </p:ext>
    </p:extLst>
  </p:cSld>
  <p:clrMapOvr>
    <a:masterClrMapping/>
  </p:clrMapOvr>
</p:sld>
</file>

<file path=ppt/theme/theme1.xml><?xml version="1.0" encoding="utf-8"?>
<a:theme xmlns:a="http://schemas.openxmlformats.org/drawingml/2006/main" name="Metropolitan">
  <a:themeElements>
    <a:clrScheme name="Custom 18">
      <a:dk1>
        <a:sysClr val="windowText" lastClr="000000"/>
      </a:dk1>
      <a:lt1>
        <a:sysClr val="window" lastClr="FFFFFF"/>
      </a:lt1>
      <a:dk2>
        <a:srgbClr val="C00000"/>
      </a:dk2>
      <a:lt2>
        <a:srgbClr val="E7E6E6"/>
      </a:lt2>
      <a:accent1>
        <a:srgbClr val="4472C4"/>
      </a:accent1>
      <a:accent2>
        <a:srgbClr val="ED7D31"/>
      </a:accent2>
      <a:accent3>
        <a:srgbClr val="A5A5A5"/>
      </a:accent3>
      <a:accent4>
        <a:srgbClr val="C00000"/>
      </a:accent4>
      <a:accent5>
        <a:srgbClr val="5B9BD5"/>
      </a:accent5>
      <a:accent6>
        <a:srgbClr val="70AD47"/>
      </a:accent6>
      <a:hlink>
        <a:srgbClr val="0563C1"/>
      </a:hlink>
      <a:folHlink>
        <a:srgbClr val="954F72"/>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A8A2BB7-7C5E-4EB2-B1F1-CFFF0F57E7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Metropolitan</Template>
  <TotalTime>1240</TotalTime>
  <Words>2484</Words>
  <Application>Microsoft Office PowerPoint</Application>
  <PresentationFormat>Widescreen</PresentationFormat>
  <Paragraphs>181</Paragraphs>
  <Slides>9</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 Light</vt:lpstr>
      <vt:lpstr>Cambria Math</vt:lpstr>
      <vt:lpstr>Metropolitan</vt:lpstr>
      <vt:lpstr>NFL TDA</vt:lpstr>
      <vt:lpstr>Persistence Diagrams</vt:lpstr>
      <vt:lpstr>Feature Extraction &amp; Distribution</vt:lpstr>
      <vt:lpstr>H1 features correlate with pass completion</vt:lpstr>
      <vt:lpstr>Vectorization – Persistence Landscapes</vt:lpstr>
      <vt:lpstr>Temporal TDA: Coverage evolving during play</vt:lpstr>
      <vt:lpstr>PowerPoint Presentation</vt:lpstr>
      <vt:lpstr>Zone v. Man Coverage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Mahesh</dc:creator>
  <cp:lastModifiedBy>Arjun Mahesh</cp:lastModifiedBy>
  <cp:revision>1</cp:revision>
  <dcterms:created xsi:type="dcterms:W3CDTF">2025-11-20T20:52:46Z</dcterms:created>
  <dcterms:modified xsi:type="dcterms:W3CDTF">2025-12-02T20:20:30Z</dcterms:modified>
</cp:coreProperties>
</file>